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7"/>
    <p:sldId id="257" r:id="rId6"/>
    <p:sldId id="258" r:id="rId5"/>
    <p:sldId id="259" r:id="rId4"/>
    <p:sldId id="260" r:id="rId3"/>
    <p:sldId id="261" r:id="rId2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373" autoAdjust="0"/>
    <p:restoredTop sz="94660"/>
  </p:normalViewPr>
  <p:slideViewPr>
    <p:cSldViewPr snapToGrid="0">
      <p:cViewPr varScale="1">
        <p:scale>
          <a:sx n="127" d="100"/>
          <a:sy n="127" d="100"/>
        </p:scale>
        <p:origin x="29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2" d="100"/>
          <a:sy n="82" d="100"/>
        </p:scale>
        <p:origin x="2877" y="55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6.xml"/><Relationship Id="rId3" Type="http://schemas.openxmlformats.org/officeDocument/2006/relationships/slide" Target="slides/slide5.xml"/><Relationship Id="rId4" Type="http://schemas.openxmlformats.org/officeDocument/2006/relationships/slide" Target="slides/slide4.xml"/><Relationship Id="rId5" Type="http://schemas.openxmlformats.org/officeDocument/2006/relationships/slide" Target="slides/slide3.xml"/><Relationship Id="rId6" Type="http://schemas.openxmlformats.org/officeDocument/2006/relationships/slide" Target="slides/slide2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microsoft.com/office/2016/11/relationships/changesInfo" Target="changesInfos/changesInfo1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fflee | 李偉業" userId="6c244122-639b-46c7-89e7-65580ed84063" providerId="ADAL" clId="{3A6E6D86-BD1E-824A-AF47-FB01C6F102FE}"/>
    <pc:docChg chg="undo custSel addSld delSld modSld">
      <pc:chgData name="Jefflee | 李偉業" userId="6c244122-639b-46c7-89e7-65580ed84063" providerId="ADAL" clId="{3A6E6D86-BD1E-824A-AF47-FB01C6F102FE}" dt="2023-05-08T03:23:35.307" v="1308" actId="1076"/>
      <pc:docMkLst>
        <pc:docMk/>
      </pc:docMkLst>
      <pc:sldChg chg="modSp mod">
        <pc:chgData name="Jefflee | 李偉業" userId="6c244122-639b-46c7-89e7-65580ed84063" providerId="ADAL" clId="{3A6E6D86-BD1E-824A-AF47-FB01C6F102FE}" dt="2023-05-04T08:02:05.938" v="61" actId="20577"/>
        <pc:sldMkLst>
          <pc:docMk/>
          <pc:sldMk cId="2780240321" sldId="258"/>
        </pc:sldMkLst>
        <pc:spChg chg="mod">
          <ac:chgData name="Jefflee | 李偉業" userId="6c244122-639b-46c7-89e7-65580ed84063" providerId="ADAL" clId="{3A6E6D86-BD1E-824A-AF47-FB01C6F102FE}" dt="2023-05-04T08:02:05.938" v="61" actId="20577"/>
          <ac:spMkLst>
            <pc:docMk/>
            <pc:sldMk cId="2780240321" sldId="258"/>
            <ac:spMk id="2" creationId="{0ACDCB6A-B60F-D7DA-4786-C8D09DDF0869}"/>
          </ac:spMkLst>
        </pc:spChg>
        <pc:spChg chg="mod">
          <ac:chgData name="Jefflee | 李偉業" userId="6c244122-639b-46c7-89e7-65580ed84063" providerId="ADAL" clId="{3A6E6D86-BD1E-824A-AF47-FB01C6F102FE}" dt="2023-05-04T08:02:00.359" v="57" actId="20577"/>
          <ac:spMkLst>
            <pc:docMk/>
            <pc:sldMk cId="2780240321" sldId="258"/>
            <ac:spMk id="6" creationId="{3236851F-D64D-7DC3-5D9C-14BC9D32B028}"/>
          </ac:spMkLst>
        </pc:spChg>
      </pc:sldChg>
      <pc:sldChg chg="del">
        <pc:chgData name="Jefflee | 李偉業" userId="6c244122-639b-46c7-89e7-65580ed84063" providerId="ADAL" clId="{3A6E6D86-BD1E-824A-AF47-FB01C6F102FE}" dt="2023-05-04T08:40:20.475" v="1269" actId="2696"/>
        <pc:sldMkLst>
          <pc:docMk/>
          <pc:sldMk cId="2777840094" sldId="259"/>
        </pc:sldMkLst>
      </pc:sldChg>
      <pc:sldChg chg="del">
        <pc:chgData name="Jefflee | 李偉業" userId="6c244122-639b-46c7-89e7-65580ed84063" providerId="ADAL" clId="{3A6E6D86-BD1E-824A-AF47-FB01C6F102FE}" dt="2023-05-04T08:40:20.478" v="1270" actId="2696"/>
        <pc:sldMkLst>
          <pc:docMk/>
          <pc:sldMk cId="1922971455" sldId="260"/>
        </pc:sldMkLst>
      </pc:sldChg>
      <pc:sldChg chg="del">
        <pc:chgData name="Jefflee | 李偉業" userId="6c244122-639b-46c7-89e7-65580ed84063" providerId="ADAL" clId="{3A6E6D86-BD1E-824A-AF47-FB01C6F102FE}" dt="2023-05-04T08:40:20.480" v="1271" actId="2696"/>
        <pc:sldMkLst>
          <pc:docMk/>
          <pc:sldMk cId="2696421501" sldId="261"/>
        </pc:sldMkLst>
      </pc:sldChg>
      <pc:sldChg chg="del">
        <pc:chgData name="Jefflee | 李偉業" userId="6c244122-639b-46c7-89e7-65580ed84063" providerId="ADAL" clId="{3A6E6D86-BD1E-824A-AF47-FB01C6F102FE}" dt="2023-05-04T08:40:20.490" v="1275" actId="2696"/>
        <pc:sldMkLst>
          <pc:docMk/>
          <pc:sldMk cId="2538418561" sldId="267"/>
        </pc:sldMkLst>
      </pc:sldChg>
      <pc:sldChg chg="del">
        <pc:chgData name="Jefflee | 李偉業" userId="6c244122-639b-46c7-89e7-65580ed84063" providerId="ADAL" clId="{3A6E6D86-BD1E-824A-AF47-FB01C6F102FE}" dt="2023-05-04T08:40:20.500" v="1277" actId="2696"/>
        <pc:sldMkLst>
          <pc:docMk/>
          <pc:sldMk cId="752283684" sldId="268"/>
        </pc:sldMkLst>
      </pc:sldChg>
      <pc:sldChg chg="del">
        <pc:chgData name="Jefflee | 李偉業" userId="6c244122-639b-46c7-89e7-65580ed84063" providerId="ADAL" clId="{3A6E6D86-BD1E-824A-AF47-FB01C6F102FE}" dt="2023-05-04T08:40:20.502" v="1278" actId="2696"/>
        <pc:sldMkLst>
          <pc:docMk/>
          <pc:sldMk cId="326467712" sldId="269"/>
        </pc:sldMkLst>
      </pc:sldChg>
      <pc:sldChg chg="del">
        <pc:chgData name="Jefflee | 李偉業" userId="6c244122-639b-46c7-89e7-65580ed84063" providerId="ADAL" clId="{3A6E6D86-BD1E-824A-AF47-FB01C6F102FE}" dt="2023-05-04T08:40:20.486" v="1273" actId="2696"/>
        <pc:sldMkLst>
          <pc:docMk/>
          <pc:sldMk cId="3795123295" sldId="270"/>
        </pc:sldMkLst>
      </pc:sldChg>
      <pc:sldChg chg="del">
        <pc:chgData name="Jefflee | 李偉業" userId="6c244122-639b-46c7-89e7-65580ed84063" providerId="ADAL" clId="{3A6E6D86-BD1E-824A-AF47-FB01C6F102FE}" dt="2023-05-04T08:40:20.484" v="1272" actId="2696"/>
        <pc:sldMkLst>
          <pc:docMk/>
          <pc:sldMk cId="3955797541" sldId="271"/>
        </pc:sldMkLst>
      </pc:sldChg>
      <pc:sldChg chg="del">
        <pc:chgData name="Jefflee | 李偉業" userId="6c244122-639b-46c7-89e7-65580ed84063" providerId="ADAL" clId="{3A6E6D86-BD1E-824A-AF47-FB01C6F102FE}" dt="2023-05-04T08:40:20.488" v="1274" actId="2696"/>
        <pc:sldMkLst>
          <pc:docMk/>
          <pc:sldMk cId="2324378138" sldId="272"/>
        </pc:sldMkLst>
      </pc:sldChg>
      <pc:sldChg chg="del">
        <pc:chgData name="Jefflee | 李偉業" userId="6c244122-639b-46c7-89e7-65580ed84063" providerId="ADAL" clId="{3A6E6D86-BD1E-824A-AF47-FB01C6F102FE}" dt="2023-05-04T08:40:20.498" v="1276" actId="2696"/>
        <pc:sldMkLst>
          <pc:docMk/>
          <pc:sldMk cId="1850229503" sldId="273"/>
        </pc:sldMkLst>
      </pc:sldChg>
      <pc:sldChg chg="del">
        <pc:chgData name="Jefflee | 李偉業" userId="6c244122-639b-46c7-89e7-65580ed84063" providerId="ADAL" clId="{3A6E6D86-BD1E-824A-AF47-FB01C6F102FE}" dt="2023-05-04T08:40:20.504" v="1279" actId="2696"/>
        <pc:sldMkLst>
          <pc:docMk/>
          <pc:sldMk cId="3426059741" sldId="274"/>
        </pc:sldMkLst>
      </pc:sldChg>
      <pc:sldChg chg="addSp delSp modSp add mod">
        <pc:chgData name="Jefflee | 李偉業" userId="6c244122-639b-46c7-89e7-65580ed84063" providerId="ADAL" clId="{3A6E6D86-BD1E-824A-AF47-FB01C6F102FE}" dt="2023-05-04T08:42:11.326" v="1303" actId="1440"/>
        <pc:sldMkLst>
          <pc:docMk/>
          <pc:sldMk cId="1657192633" sldId="275"/>
        </pc:sldMkLst>
        <pc:spChg chg="add del mod">
          <ac:chgData name="Jefflee | 李偉業" userId="6c244122-639b-46c7-89e7-65580ed84063" providerId="ADAL" clId="{3A6E6D86-BD1E-824A-AF47-FB01C6F102FE}" dt="2023-05-04T08:08:19.105" v="234" actId="478"/>
          <ac:spMkLst>
            <pc:docMk/>
            <pc:sldMk cId="1657192633" sldId="275"/>
            <ac:spMk id="5" creationId="{9B0B8023-3078-6CFA-D93B-188C605B0A6C}"/>
          </ac:spMkLst>
        </pc:spChg>
        <pc:spChg chg="add mod">
          <ac:chgData name="Jefflee | 李偉業" userId="6c244122-639b-46c7-89e7-65580ed84063" providerId="ADAL" clId="{3A6E6D86-BD1E-824A-AF47-FB01C6F102FE}" dt="2023-05-04T08:08:19.935" v="235"/>
          <ac:spMkLst>
            <pc:docMk/>
            <pc:sldMk cId="1657192633" sldId="275"/>
            <ac:spMk id="6" creationId="{8E3807BF-A0FD-B238-41C3-AFD17F3FB215}"/>
          </ac:spMkLst>
        </pc:spChg>
        <pc:spChg chg="del mod">
          <ac:chgData name="Jefflee | 李偉業" userId="6c244122-639b-46c7-89e7-65580ed84063" providerId="ADAL" clId="{3A6E6D86-BD1E-824A-AF47-FB01C6F102FE}" dt="2023-05-04T08:05:44.012" v="103" actId="931"/>
          <ac:spMkLst>
            <pc:docMk/>
            <pc:sldMk cId="1657192633" sldId="275"/>
            <ac:spMk id="7" creationId="{3A21DD9E-A626-935E-01F2-47568DFE2A9C}"/>
          </ac:spMkLst>
        </pc:spChg>
        <pc:spChg chg="del mod">
          <ac:chgData name="Jefflee | 李偉業" userId="6c244122-639b-46c7-89e7-65580ed84063" providerId="ADAL" clId="{3A6E6D86-BD1E-824A-AF47-FB01C6F102FE}" dt="2023-05-04T08:08:14.177" v="233" actId="478"/>
          <ac:spMkLst>
            <pc:docMk/>
            <pc:sldMk cId="1657192633" sldId="275"/>
            <ac:spMk id="8" creationId="{E674A28F-AE3A-CA34-2EAD-BF16A2480FF9}"/>
          </ac:spMkLst>
        </pc:spChg>
        <pc:spChg chg="add mod">
          <ac:chgData name="Jefflee | 李偉業" userId="6c244122-639b-46c7-89e7-65580ed84063" providerId="ADAL" clId="{3A6E6D86-BD1E-824A-AF47-FB01C6F102FE}" dt="2023-05-04T08:09:31.482" v="326" actId="1076"/>
          <ac:spMkLst>
            <pc:docMk/>
            <pc:sldMk cId="1657192633" sldId="275"/>
            <ac:spMk id="9" creationId="{4B0E988B-660B-8270-CE2F-216E50C5E34F}"/>
          </ac:spMkLst>
        </pc:spChg>
        <pc:picChg chg="add mod">
          <ac:chgData name="Jefflee | 李偉業" userId="6c244122-639b-46c7-89e7-65580ed84063" providerId="ADAL" clId="{3A6E6D86-BD1E-824A-AF47-FB01C6F102FE}" dt="2023-05-04T08:42:11.326" v="1303" actId="1440"/>
          <ac:picMkLst>
            <pc:docMk/>
            <pc:sldMk cId="1657192633" sldId="275"/>
            <ac:picMk id="3" creationId="{78F4FBFF-4D88-3945-8D39-6FECCDC0EBEC}"/>
          </ac:picMkLst>
        </pc:picChg>
      </pc:sldChg>
      <pc:sldChg chg="new del">
        <pc:chgData name="Jefflee | 李偉業" userId="6c244122-639b-46c7-89e7-65580ed84063" providerId="ADAL" clId="{3A6E6D86-BD1E-824A-AF47-FB01C6F102FE}" dt="2023-05-04T08:04:08.250" v="63" actId="2696"/>
        <pc:sldMkLst>
          <pc:docMk/>
          <pc:sldMk cId="2261172085" sldId="275"/>
        </pc:sldMkLst>
      </pc:sldChg>
      <pc:sldChg chg="modSp add del mod">
        <pc:chgData name="Jefflee | 李偉業" userId="6c244122-639b-46c7-89e7-65580ed84063" providerId="ADAL" clId="{3A6E6D86-BD1E-824A-AF47-FB01C6F102FE}" dt="2023-05-04T08:09:37.923" v="327" actId="2696"/>
        <pc:sldMkLst>
          <pc:docMk/>
          <pc:sldMk cId="274227537" sldId="276"/>
        </pc:sldMkLst>
        <pc:spChg chg="mod">
          <ac:chgData name="Jefflee | 李偉業" userId="6c244122-639b-46c7-89e7-65580ed84063" providerId="ADAL" clId="{3A6E6D86-BD1E-824A-AF47-FB01C6F102FE}" dt="2023-05-04T08:08:01.743" v="232" actId="20577"/>
          <ac:spMkLst>
            <pc:docMk/>
            <pc:sldMk cId="274227537" sldId="276"/>
            <ac:spMk id="8" creationId="{E674A28F-AE3A-CA34-2EAD-BF16A2480FF9}"/>
          </ac:spMkLst>
        </pc:spChg>
        <pc:picChg chg="mod">
          <ac:chgData name="Jefflee | 李偉業" userId="6c244122-639b-46c7-89e7-65580ed84063" providerId="ADAL" clId="{3A6E6D86-BD1E-824A-AF47-FB01C6F102FE}" dt="2023-05-04T08:07:26.153" v="153" actId="14100"/>
          <ac:picMkLst>
            <pc:docMk/>
            <pc:sldMk cId="274227537" sldId="276"/>
            <ac:picMk id="3" creationId="{78F4FBFF-4D88-3945-8D39-6FECCDC0EBEC}"/>
          </ac:picMkLst>
        </pc:picChg>
      </pc:sldChg>
      <pc:sldChg chg="modSp add mod">
        <pc:chgData name="Jefflee | 李偉業" userId="6c244122-639b-46c7-89e7-65580ed84063" providerId="ADAL" clId="{3A6E6D86-BD1E-824A-AF47-FB01C6F102FE}" dt="2023-05-04T08:42:05.430" v="1302" actId="1440"/>
        <pc:sldMkLst>
          <pc:docMk/>
          <pc:sldMk cId="482324642" sldId="276"/>
        </pc:sldMkLst>
        <pc:spChg chg="mod">
          <ac:chgData name="Jefflee | 李偉業" userId="6c244122-639b-46c7-89e7-65580ed84063" providerId="ADAL" clId="{3A6E6D86-BD1E-824A-AF47-FB01C6F102FE}" dt="2023-05-04T08:10:43.690" v="392" actId="12"/>
          <ac:spMkLst>
            <pc:docMk/>
            <pc:sldMk cId="482324642" sldId="276"/>
            <ac:spMk id="9" creationId="{4B0E988B-660B-8270-CE2F-216E50C5E34F}"/>
          </ac:spMkLst>
        </pc:spChg>
        <pc:picChg chg="mod">
          <ac:chgData name="Jefflee | 李偉業" userId="6c244122-639b-46c7-89e7-65580ed84063" providerId="ADAL" clId="{3A6E6D86-BD1E-824A-AF47-FB01C6F102FE}" dt="2023-05-04T08:42:05.430" v="1302" actId="1440"/>
          <ac:picMkLst>
            <pc:docMk/>
            <pc:sldMk cId="482324642" sldId="276"/>
            <ac:picMk id="3" creationId="{78F4FBFF-4D88-3945-8D39-6FECCDC0EBEC}"/>
          </ac:picMkLst>
        </pc:picChg>
      </pc:sldChg>
      <pc:sldChg chg="modSp add mod">
        <pc:chgData name="Jefflee | 李偉業" userId="6c244122-639b-46c7-89e7-65580ed84063" providerId="ADAL" clId="{3A6E6D86-BD1E-824A-AF47-FB01C6F102FE}" dt="2023-05-04T08:41:58.702" v="1301" actId="1440"/>
        <pc:sldMkLst>
          <pc:docMk/>
          <pc:sldMk cId="370234414" sldId="277"/>
        </pc:sldMkLst>
        <pc:spChg chg="mod">
          <ac:chgData name="Jefflee | 李偉業" userId="6c244122-639b-46c7-89e7-65580ed84063" providerId="ADAL" clId="{3A6E6D86-BD1E-824A-AF47-FB01C6F102FE}" dt="2023-05-04T08:21:07.821" v="567" actId="12"/>
          <ac:spMkLst>
            <pc:docMk/>
            <pc:sldMk cId="370234414" sldId="277"/>
            <ac:spMk id="9" creationId="{4B0E988B-660B-8270-CE2F-216E50C5E34F}"/>
          </ac:spMkLst>
        </pc:spChg>
        <pc:picChg chg="mod">
          <ac:chgData name="Jefflee | 李偉業" userId="6c244122-639b-46c7-89e7-65580ed84063" providerId="ADAL" clId="{3A6E6D86-BD1E-824A-AF47-FB01C6F102FE}" dt="2023-05-04T08:41:58.702" v="1301" actId="1440"/>
          <ac:picMkLst>
            <pc:docMk/>
            <pc:sldMk cId="370234414" sldId="277"/>
            <ac:picMk id="3" creationId="{78F4FBFF-4D88-3945-8D39-6FECCDC0EBEC}"/>
          </ac:picMkLst>
        </pc:picChg>
      </pc:sldChg>
      <pc:sldChg chg="addSp modSp add mod">
        <pc:chgData name="Jefflee | 李偉業" userId="6c244122-639b-46c7-89e7-65580ed84063" providerId="ADAL" clId="{3A6E6D86-BD1E-824A-AF47-FB01C6F102FE}" dt="2023-05-08T03:23:15.599" v="1305" actId="1076"/>
        <pc:sldMkLst>
          <pc:docMk/>
          <pc:sldMk cId="1896202683" sldId="278"/>
        </pc:sldMkLst>
        <pc:spChg chg="add mod">
          <ac:chgData name="Jefflee | 李偉業" userId="6c244122-639b-46c7-89e7-65580ed84063" providerId="ADAL" clId="{3A6E6D86-BD1E-824A-AF47-FB01C6F102FE}" dt="2023-05-08T03:23:15.599" v="1305" actId="1076"/>
          <ac:spMkLst>
            <pc:docMk/>
            <pc:sldMk cId="1896202683" sldId="278"/>
            <ac:spMk id="5" creationId="{4E555CF4-D047-996B-A1E5-FBC739AEC345}"/>
          </ac:spMkLst>
        </pc:spChg>
        <pc:spChg chg="mod">
          <ac:chgData name="Jefflee | 李偉業" userId="6c244122-639b-46c7-89e7-65580ed84063" providerId="ADAL" clId="{3A6E6D86-BD1E-824A-AF47-FB01C6F102FE}" dt="2023-05-04T08:27:49.092" v="630" actId="20577"/>
          <ac:spMkLst>
            <pc:docMk/>
            <pc:sldMk cId="1896202683" sldId="278"/>
            <ac:spMk id="9" creationId="{4B0E988B-660B-8270-CE2F-216E50C5E34F}"/>
          </ac:spMkLst>
        </pc:spChg>
        <pc:picChg chg="mod">
          <ac:chgData name="Jefflee | 李偉業" userId="6c244122-639b-46c7-89e7-65580ed84063" providerId="ADAL" clId="{3A6E6D86-BD1E-824A-AF47-FB01C6F102FE}" dt="2023-05-04T08:41:53.292" v="1300" actId="1440"/>
          <ac:picMkLst>
            <pc:docMk/>
            <pc:sldMk cId="1896202683" sldId="278"/>
            <ac:picMk id="3" creationId="{78F4FBFF-4D88-3945-8D39-6FECCDC0EBEC}"/>
          </ac:picMkLst>
        </pc:picChg>
        <pc:picChg chg="add mod">
          <ac:chgData name="Jefflee | 李偉業" userId="6c244122-639b-46c7-89e7-65580ed84063" providerId="ADAL" clId="{3A6E6D86-BD1E-824A-AF47-FB01C6F102FE}" dt="2023-05-04T08:28:10.840" v="635" actId="1076"/>
          <ac:picMkLst>
            <pc:docMk/>
            <pc:sldMk cId="1896202683" sldId="278"/>
            <ac:picMk id="4" creationId="{C3082B26-DEEA-6693-8EC9-09A99E97B298}"/>
          </ac:picMkLst>
        </pc:picChg>
      </pc:sldChg>
      <pc:sldChg chg="addSp modSp add mod">
        <pc:chgData name="Jefflee | 李偉業" userId="6c244122-639b-46c7-89e7-65580ed84063" providerId="ADAL" clId="{3A6E6D86-BD1E-824A-AF47-FB01C6F102FE}" dt="2023-05-08T03:23:35.307" v="1308" actId="1076"/>
        <pc:sldMkLst>
          <pc:docMk/>
          <pc:sldMk cId="1729158523" sldId="279"/>
        </pc:sldMkLst>
        <pc:spChg chg="add mod">
          <ac:chgData name="Jefflee | 李偉業" userId="6c244122-639b-46c7-89e7-65580ed84063" providerId="ADAL" clId="{3A6E6D86-BD1E-824A-AF47-FB01C6F102FE}" dt="2023-05-08T03:23:35.307" v="1308" actId="1076"/>
          <ac:spMkLst>
            <pc:docMk/>
            <pc:sldMk cId="1729158523" sldId="279"/>
            <ac:spMk id="2" creationId="{367DB34A-7B61-DC36-AB6A-389DC83BAF7D}"/>
          </ac:spMkLst>
        </pc:spChg>
        <pc:spChg chg="mod">
          <ac:chgData name="Jefflee | 李偉業" userId="6c244122-639b-46c7-89e7-65580ed84063" providerId="ADAL" clId="{3A6E6D86-BD1E-824A-AF47-FB01C6F102FE}" dt="2023-05-04T08:33:50.478" v="1105" actId="20577"/>
          <ac:spMkLst>
            <pc:docMk/>
            <pc:sldMk cId="1729158523" sldId="279"/>
            <ac:spMk id="9" creationId="{4B0E988B-660B-8270-CE2F-216E50C5E34F}"/>
          </ac:spMkLst>
        </pc:spChg>
        <pc:picChg chg="mod">
          <ac:chgData name="Jefflee | 李偉業" userId="6c244122-639b-46c7-89e7-65580ed84063" providerId="ADAL" clId="{3A6E6D86-BD1E-824A-AF47-FB01C6F102FE}" dt="2023-05-04T08:41:48.544" v="1299" actId="1440"/>
          <ac:picMkLst>
            <pc:docMk/>
            <pc:sldMk cId="1729158523" sldId="279"/>
            <ac:picMk id="3" creationId="{78F4FBFF-4D88-3945-8D39-6FECCDC0EBEC}"/>
          </ac:picMkLst>
        </pc:picChg>
      </pc:sldChg>
      <pc:sldChg chg="modSp add mod">
        <pc:chgData name="Jefflee | 李偉業" userId="6c244122-639b-46c7-89e7-65580ed84063" providerId="ADAL" clId="{3A6E6D86-BD1E-824A-AF47-FB01C6F102FE}" dt="2023-05-04T08:41:44.246" v="1298" actId="1440"/>
        <pc:sldMkLst>
          <pc:docMk/>
          <pc:sldMk cId="4128066327" sldId="280"/>
        </pc:sldMkLst>
        <pc:spChg chg="mod">
          <ac:chgData name="Jefflee | 李偉業" userId="6c244122-639b-46c7-89e7-65580ed84063" providerId="ADAL" clId="{3A6E6D86-BD1E-824A-AF47-FB01C6F102FE}" dt="2023-05-04T08:36:55.629" v="1175" actId="20577"/>
          <ac:spMkLst>
            <pc:docMk/>
            <pc:sldMk cId="4128066327" sldId="280"/>
            <ac:spMk id="9" creationId="{4B0E988B-660B-8270-CE2F-216E50C5E34F}"/>
          </ac:spMkLst>
        </pc:spChg>
        <pc:picChg chg="mod">
          <ac:chgData name="Jefflee | 李偉業" userId="6c244122-639b-46c7-89e7-65580ed84063" providerId="ADAL" clId="{3A6E6D86-BD1E-824A-AF47-FB01C6F102FE}" dt="2023-05-04T08:41:44.246" v="1298" actId="1440"/>
          <ac:picMkLst>
            <pc:docMk/>
            <pc:sldMk cId="4128066327" sldId="280"/>
            <ac:picMk id="3" creationId="{78F4FBFF-4D88-3945-8D39-6FECCDC0EBEC}"/>
          </ac:picMkLst>
        </pc:picChg>
      </pc:sldChg>
      <pc:sldChg chg="add del">
        <pc:chgData name="Jefflee | 李偉業" userId="6c244122-639b-46c7-89e7-65580ed84063" providerId="ADAL" clId="{3A6E6D86-BD1E-824A-AF47-FB01C6F102FE}" dt="2023-05-04T08:40:20.471" v="1268" actId="2696"/>
        <pc:sldMkLst>
          <pc:docMk/>
          <pc:sldMk cId="2539298200" sldId="281"/>
        </pc:sldMkLst>
      </pc:sldChg>
      <pc:sldChg chg="modSp add mod">
        <pc:chgData name="Jefflee | 李偉業" userId="6c244122-639b-46c7-89e7-65580ed84063" providerId="ADAL" clId="{3A6E6D86-BD1E-824A-AF47-FB01C6F102FE}" dt="2023-05-04T08:41:36.341" v="1297" actId="1440"/>
        <pc:sldMkLst>
          <pc:docMk/>
          <pc:sldMk cId="4280024838" sldId="282"/>
        </pc:sldMkLst>
        <pc:spChg chg="mod">
          <ac:chgData name="Jefflee | 李偉業" userId="6c244122-639b-46c7-89e7-65580ed84063" providerId="ADAL" clId="{3A6E6D86-BD1E-824A-AF47-FB01C6F102FE}" dt="2023-05-04T08:38:32.966" v="1247" actId="20577"/>
          <ac:spMkLst>
            <pc:docMk/>
            <pc:sldMk cId="4280024838" sldId="282"/>
            <ac:spMk id="9" creationId="{4B0E988B-660B-8270-CE2F-216E50C5E34F}"/>
          </ac:spMkLst>
        </pc:spChg>
        <pc:picChg chg="mod">
          <ac:chgData name="Jefflee | 李偉業" userId="6c244122-639b-46c7-89e7-65580ed84063" providerId="ADAL" clId="{3A6E6D86-BD1E-824A-AF47-FB01C6F102FE}" dt="2023-05-04T08:41:36.341" v="1297" actId="1440"/>
          <ac:picMkLst>
            <pc:docMk/>
            <pc:sldMk cId="4280024838" sldId="282"/>
            <ac:picMk id="3" creationId="{78F4FBFF-4D88-3945-8D39-6FECCDC0EBEC}"/>
          </ac:picMkLst>
        </pc:picChg>
      </pc:sldChg>
      <pc:sldChg chg="delSp modSp add mod">
        <pc:chgData name="Jefflee | 李偉業" userId="6c244122-639b-46c7-89e7-65580ed84063" providerId="ADAL" clId="{3A6E6D86-BD1E-824A-AF47-FB01C6F102FE}" dt="2023-05-04T08:41:25.074" v="1295" actId="1440"/>
        <pc:sldMkLst>
          <pc:docMk/>
          <pc:sldMk cId="4110436794" sldId="283"/>
        </pc:sldMkLst>
        <pc:spChg chg="del">
          <ac:chgData name="Jefflee | 李偉業" userId="6c244122-639b-46c7-89e7-65580ed84063" providerId="ADAL" clId="{3A6E6D86-BD1E-824A-AF47-FB01C6F102FE}" dt="2023-05-04T08:38:55.894" v="1249" actId="478"/>
          <ac:spMkLst>
            <pc:docMk/>
            <pc:sldMk cId="4110436794" sldId="283"/>
            <ac:spMk id="9" creationId="{4B0E988B-660B-8270-CE2F-216E50C5E34F}"/>
          </ac:spMkLst>
        </pc:spChg>
        <pc:picChg chg="mod">
          <ac:chgData name="Jefflee | 李偉業" userId="6c244122-639b-46c7-89e7-65580ed84063" providerId="ADAL" clId="{3A6E6D86-BD1E-824A-AF47-FB01C6F102FE}" dt="2023-05-04T08:41:25.074" v="1295" actId="1440"/>
          <ac:picMkLst>
            <pc:docMk/>
            <pc:sldMk cId="4110436794" sldId="283"/>
            <ac:picMk id="3" creationId="{78F4FBFF-4D88-3945-8D39-6FECCDC0EBEC}"/>
          </ac:picMkLst>
        </pc:picChg>
      </pc:sldChg>
    </pc:docChg>
  </pc:docChgLst>
  <pc:docChgLst>
    <pc:chgData name="Jefflee | 李偉業" userId="6c244122-639b-46c7-89e7-65580ed84063" providerId="ADAL" clId="{4F952979-552C-7140-8130-11F5A823B71D}"/>
    <pc:docChg chg="mod">
      <pc:chgData name="Jefflee | 李偉業" userId="6c244122-639b-46c7-89e7-65580ed84063" providerId="ADAL" clId="{4F952979-552C-7140-8130-11F5A823B71D}" dt="2023-06-28T09:17:47.519" v="0" actId="33475"/>
      <pc:docMkLst>
        <pc:docMk/>
      </pc:docMkLst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08A4A7-5AE4-4BC4-BB59-0F51DCB22237}" type="datetimeFigureOut">
              <a:rPr lang="zh-TW" altLang="en-US" smtClean="0"/>
              <a:t>2025/8/26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F4FEAE-8422-4D86-B52E-EF7D70B86D2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37032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講法導引：開場說明這份簡報的立場：不是銷售簡報，是讓技術長判斷主控台在技術上站不站得住、怎麼接進現有環境、風險在哪。每個模組都標出做到哪裡。</a:t>
            </a:r>
          </a:p>
          <a:p>
            <a:r>
              <a:t>口徑註記：版本以GitHub公開倉庫guessleej/xConsole的main分支為準，2026年10月22日合併PR #5。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講法導引：先把三種狀態講清楚，後面每頁就不用再解釋。DGX Spark標在待實機驗證，不講成已上線。</a:t>
            </a:r>
          </a:p>
          <a:p>
            <a:r>
              <a:t>口徑註記：214＝15＋36＋26＋21＋5＋52＋23＋36，各支測試的通過行數；冒煙測試12項另計，工具呼叫一項列為參考不計入。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講法導引：用自己的紀錄說明風險，技術長會比較相信踩過的數字。</a:t>
            </a:r>
          </a:p>
          <a:p>
            <a:r>
              <a:t>口徑註記：10月2日數字出自機群維運紀錄（free -g、uptime）；10月20日出自xConsole准入試算回應。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講法導引：一頁講完，後面每頁是其中一格的展開。主控台是唯一的網頁入口；同仁不登入主控台，拿網址與金鑰直接打模型。</a:t>
            </a:r>
          </a:p>
          <a:p>
            <a:r>
              <a:t>口徑註記：能力卡的8種範例：VS Code的GitHub Copilot、其他IDE通用欄位、OpenCode、Continue、Cline／Roo Code、Claude Code、curl、Python。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講法導引：強調不需要root與容器，對既有機器的侵入性低。</a:t>
            </a:r>
          </a:p>
          <a:p>
            <a:r>
              <a:t>口徑註記：資源上限出自deploy_console.sh與deploy_agent.sh的systemd設定；SBOM見手冊/資安證據/sbom-runtime.cdx.json（cffi、cryptography、pip、pycparser）。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講法導引：賣一台時主控台直接附在那台；之後機器變多，各機的欄位登錄與代理不用重做。</a:t>
            </a:r>
          </a:p>
          <a:p>
            <a:r>
              <a:t>口徑註記：目前多機模式：主控台在.27，納管.26、.27、.20。單機模式腳本deploy_standalone.sh。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講法導引：這是整套系統最核心的設計。AI 395要分兩池看，系統那池才是會拖死整台的；Jetson與DGX Spark要合併看。</a:t>
            </a:r>
          </a:p>
          <a:p>
            <a:r>
              <a:t>口徑註記：Jetson與GB10的nvidia-smi在memory.total回[N/A]，所以單一池機器改讀/proc/meminfo。底線為預設值，可在各機登錄檔覆寫。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講法導引：強調「算回自己」這一條是踩過的：沒算回時，重啟一個本來跑得好好的模型會被自己擋住。</a:t>
            </a:r>
          </a:p>
          <a:p>
            <a:r>
              <a:t>口徑註記：常數出自agent/xconsole_agent.py的DEFAULT_FLOORS與admit()；警告門檻為底線＋4 GiB。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講法導引：技術長常問的問題：你們怎麼知道一顆模型要多少記憶體。答案是兩種來源：檔頭算＋載入後實測校正。</a:t>
            </a:r>
          </a:p>
          <a:p>
            <a:r>
              <a:t>口徑註記：Strata數字出自2026年10月19日.27的載入紀錄；SmolLM2數字出自smoke_real_llama.py與本機解析（30×3×128×2）。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講法導引：說明為什麼登錄檔不開放API寫入：若能改登錄檔，拿到代理權杖的人就能把記錄檔指到私鑰再讀出來。</a:t>
            </a:r>
          </a:p>
          <a:p>
            <a:r>
              <a:t>口徑註記：auto-restart的處理是2026年10月22日測試抓到後加上的（壞模型原本會讓還原白等到逾時）。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講法導引：強調第5步：Type=simple的服務只要被接受就回0，載入失敗是幾秒後才發生，只看指令回傳值會誤以為成功。</a:t>
            </a:r>
          </a:p>
          <a:p>
            <a:r>
              <a:t>口徑註記：流程出自agent/xconsole_agent.py的set_model、set_llama_model、back_to_strata；逾時：Strata 240秒、llama.cpp 900秒。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講法導引：說明為什麼要用代理產生服務而不是讓客戶自己寫systemd：參數與金鑰處理容易出錯，而且換模型時要能整組還原。</a:t>
            </a:r>
          </a:p>
          <a:p>
            <a:r>
              <a:t>口徑註記：冒煙測試在.27以隔離HOME與隔離欄位進行，用100 MB的SmolLM2，跑完刪除，不碰正式欄位。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講法導引：這頁回答「換到Gemma 4怎麼辦」：Strata只跑Qwen3.8一家，其他模型走llama.cpp，在同一個欄位切換。</a:t>
            </a:r>
          </a:p>
          <a:p>
            <a:r>
              <a:t>口徑註記：審查意見修正（PR #5）：同一服務換模型時不再重複算回記憶體；失敗時照原狀態還原開機自啟。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講法導引：說明我們替客戶擋掉的常見錯誤：分片不齊、檔頭讀不到、輔助檔誤當成量化。</a:t>
            </a:r>
          </a:p>
          <a:p>
            <a:r>
              <a:t>口徑註記：資料夾帶作者名稱是PR #5審查意見修正，避免不同作者的同名repo互相覆蓋。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講法導引：說明實測為什麼分本機與經網路兩段：本機通只證明服務活著，經網路通才證明同仁的電腦連得到。</a:t>
            </a:r>
          </a:p>
          <a:p>
            <a:r>
              <a:t>口徑註記：實測秒數出自2026年10月22日正式環境「實測一次」的結果（.27主腦）。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講法導引：這頁通常不用多講，技術長關心的是失敗會不會留下改壞的狀態：不會。</a:t>
            </a:r>
          </a:p>
          <a:p>
            <a:r>
              <a:t>口徑註記：情境內容出自各機registry.json的profiles；長上下文實測：68,666 token提示加輸出上限16,384，70.6秒正常作答（2026年10月19日）。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講法導引：這頁是安全的總表，細節在後兩頁。</a:t>
            </a:r>
          </a:p>
          <a:p>
            <a:r>
              <a:t>口徑註記：安全測試＝test/security/test_security.py，共52項；完整對照見手冊/資安證據/ASVS檢核表.md。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講法導引：把keep-alive的事照實講，技術長通常會因為我們主動揭露而更信任測試。</a:t>
            </a:r>
          </a:p>
          <a:p>
            <a:r>
              <a:t>口徑註記：見手冊/資安證據/滲透測試自測報告.md的F1（高）與F6（中），皆已修正。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講法導引：這頁回答「主控台被冒充怎麼辦、代理被冒充怎麼辦」。</a:t>
            </a:r>
          </a:p>
          <a:p>
            <a:r>
              <a:t>口徑註記：G2期限2026年12月31日（docs/THREAT_MODEL.md第6節）。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講法導引：技術長常問熱換怎麼做到的：TLS握手延到處理執行緒，這也讓同一個埠能同時把http轉https。</a:t>
            </a:r>
          </a:p>
          <a:p>
            <a:r>
              <a:t>口徑註記：預設「使用者會打的網址」只取對外網卡的IP，避免把Docker的172.17.0.1列入涵蓋檢查讓正式憑證永遠過不了。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講法導引：保存400天符合防護基準中級建議的6個月以上。</a:t>
            </a:r>
          </a:p>
          <a:p>
            <a:r>
              <a:t>口徑註記：常數出自console/store.py（redact、prune keep_days=400）與xconsole_server.py（SAMPLE_EVERY=300）。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講法導引：第一份報告列出三項待處理：.26系統記憶體曾低於底線、主控台仍用暫用自簽、.26的抓料瀏覽器一直停在啟動中。報告會揭露系統自己的問題。</a:t>
            </a:r>
          </a:p>
          <a:p>
            <a:r>
              <a:t>口徑註記：產生器scripts/report/build_usage_report.py：抓端點→畫圖→python-docx→轉PDF回填目錄頁碼→驗證。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講法導引：說明CI的七個作業：測試、CodeQL（Python與JavaScript）、gitleaks（完整歷史）、pip-audit、SBOM＋grype、ZAP baseline。</a:t>
            </a:r>
          </a:p>
          <a:p>
            <a:r>
              <a:t>口徑註記：掃描結果見手冊/資安證據/掃描報告/：pip-audit、grype、trivy、gitleaks皆0項（2026年10月22日）。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講法導引：DGX Spark不在已驗證清單，准入公式已過自我檢查但未接實機。</a:t>
            </a:r>
          </a:p>
          <a:p>
            <a:r>
              <a:t>口徑註記：版本出自requirements.txt、各機實際環境（2026年10月）與CLAUDE.md機群紀錄。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講法導引：逐條講，不要跳過。G1是最常被問的，說清楚期限與做法。</a:t>
            </a:r>
          </a:p>
          <a:p>
            <a:r>
              <a:t>口徑註記：G1～G4出自docs/THREAT_MODEL.md第6節，期限：G1、G2為2026年12月31日，G3為2027年3月31日，G4依合約。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講法導引：強調這些都是規劃中，不要講成已完成。</a:t>
            </a:r>
          </a:p>
          <a:p>
            <a:r>
              <a:t>口徑註記：期限出自docs/THREAT_MODEL.md第6節與手冊/資安證據/ASVS檢核表.md的待補彙整。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講法導引：這頁可以直接拿去跟客戶的機房與網路負責人對。</a:t>
            </a:r>
          </a:p>
          <a:p>
            <a:r>
              <a:t>口徑註記：埠號出自deploy_console.sh與deploy_agent.sh；Ubuntu版本依目前已驗證的三台機器。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講法導引：說明帳密不走環境變數與指令列的理由：那兩個地方會被ps、/proc/&lt;pid&gt;/environ與shell歷史留下。</a:t>
            </a:r>
          </a:p>
          <a:p>
            <a:r>
              <a:t>口徑註記：四項檢查：check-compliance.sh、check-https.sh、audit-secrets.sh、check-usage-report.sh，2026年10月22日皆通過。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講法導引：收尾提出下一步：一次實機展示，當場多載一顆模型看它被擋、換一次模型看它驗證與還原；並約定會後提供的文件（威脅模型、ASVS與SSDF對照表、SBOM、自測報告）。</a:t>
            </a:r>
          </a:p>
          <a:p>
            <a:r>
              <a:t>口徑註記：資安聯絡信箱出自SECURITY.md與SECURITY_PLAN第3節。價格不在本簡報，另行提供。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17039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頁首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占位符 4">
            <a:extLst>
              <a:ext uri="{FF2B5EF4-FFF2-40B4-BE49-F238E27FC236}">
                <a16:creationId xmlns:a16="http://schemas.microsoft.com/office/drawing/2014/main" id="{7033C2E2-AF2C-43FF-8445-00A4E383E2FA}"/>
              </a:ext>
            </a:extLst>
          </p:cNvPr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694" b="12694"/>
          <a:stretch>
            <a:fillRect/>
          </a:stretch>
        </p:blipFill>
        <p:spPr>
          <a:xfrm>
            <a:off x="5537" y="9022"/>
            <a:ext cx="9642536" cy="4795919"/>
          </a:xfrm>
          <a:custGeom>
            <a:avLst/>
            <a:gdLst>
              <a:gd name="connsiteX0" fmla="*/ 2422119 w 9642536"/>
              <a:gd name="connsiteY0" fmla="*/ 2477736 h 4795919"/>
              <a:gd name="connsiteX1" fmla="*/ 3581210 w 9642536"/>
              <a:gd name="connsiteY1" fmla="*/ 3636828 h 4795919"/>
              <a:gd name="connsiteX2" fmla="*/ 2422119 w 9642536"/>
              <a:gd name="connsiteY2" fmla="*/ 4795919 h 4795919"/>
              <a:gd name="connsiteX3" fmla="*/ 1263028 w 9642536"/>
              <a:gd name="connsiteY3" fmla="*/ 3636828 h 4795919"/>
              <a:gd name="connsiteX4" fmla="*/ 8483445 w 9642536"/>
              <a:gd name="connsiteY4" fmla="*/ 1262781 h 4795919"/>
              <a:gd name="connsiteX5" fmla="*/ 9642536 w 9642536"/>
              <a:gd name="connsiteY5" fmla="*/ 2421873 h 4795919"/>
              <a:gd name="connsiteX6" fmla="*/ 8483445 w 9642536"/>
              <a:gd name="connsiteY6" fmla="*/ 3580964 h 4795919"/>
              <a:gd name="connsiteX7" fmla="*/ 7324354 w 9642536"/>
              <a:gd name="connsiteY7" fmla="*/ 2421873 h 4795919"/>
              <a:gd name="connsiteX8" fmla="*/ 6058914 w 9642536"/>
              <a:gd name="connsiteY8" fmla="*/ 1262781 h 4795919"/>
              <a:gd name="connsiteX9" fmla="*/ 7218005 w 9642536"/>
              <a:gd name="connsiteY9" fmla="*/ 2421873 h 4795919"/>
              <a:gd name="connsiteX10" fmla="*/ 6058914 w 9642536"/>
              <a:gd name="connsiteY10" fmla="*/ 3580964 h 4795919"/>
              <a:gd name="connsiteX11" fmla="*/ 4899823 w 9642536"/>
              <a:gd name="connsiteY11" fmla="*/ 2421873 h 4795919"/>
              <a:gd name="connsiteX12" fmla="*/ 3634386 w 9642536"/>
              <a:gd name="connsiteY12" fmla="*/ 1262781 h 4795919"/>
              <a:gd name="connsiteX13" fmla="*/ 4793476 w 9642536"/>
              <a:gd name="connsiteY13" fmla="*/ 2421873 h 4795919"/>
              <a:gd name="connsiteX14" fmla="*/ 3634386 w 9642536"/>
              <a:gd name="connsiteY14" fmla="*/ 3580964 h 4795919"/>
              <a:gd name="connsiteX15" fmla="*/ 2475294 w 9642536"/>
              <a:gd name="connsiteY15" fmla="*/ 2421873 h 4795919"/>
              <a:gd name="connsiteX16" fmla="*/ 1209854 w 9642536"/>
              <a:gd name="connsiteY16" fmla="*/ 1262781 h 4795919"/>
              <a:gd name="connsiteX17" fmla="*/ 2368945 w 9642536"/>
              <a:gd name="connsiteY17" fmla="*/ 2421873 h 4795919"/>
              <a:gd name="connsiteX18" fmla="*/ 1209854 w 9642536"/>
              <a:gd name="connsiteY18" fmla="*/ 3580964 h 4795919"/>
              <a:gd name="connsiteX19" fmla="*/ 50763 w 9642536"/>
              <a:gd name="connsiteY19" fmla="*/ 2421873 h 4795919"/>
              <a:gd name="connsiteX20" fmla="*/ 2422119 w 9642536"/>
              <a:gd name="connsiteY20" fmla="*/ 47826 h 4795919"/>
              <a:gd name="connsiteX21" fmla="*/ 3581210 w 9642536"/>
              <a:gd name="connsiteY21" fmla="*/ 1206917 h 4795919"/>
              <a:gd name="connsiteX22" fmla="*/ 2422119 w 9642536"/>
              <a:gd name="connsiteY22" fmla="*/ 2366008 h 4795919"/>
              <a:gd name="connsiteX23" fmla="*/ 1263028 w 9642536"/>
              <a:gd name="connsiteY23" fmla="*/ 1206917 h 4795919"/>
              <a:gd name="connsiteX24" fmla="*/ 4846649 w 9642536"/>
              <a:gd name="connsiteY24" fmla="*/ 47825 h 4795919"/>
              <a:gd name="connsiteX25" fmla="*/ 6005739 w 9642536"/>
              <a:gd name="connsiteY25" fmla="*/ 1206917 h 4795919"/>
              <a:gd name="connsiteX26" fmla="*/ 4846649 w 9642536"/>
              <a:gd name="connsiteY26" fmla="*/ 2366008 h 4795919"/>
              <a:gd name="connsiteX27" fmla="*/ 3687558 w 9642536"/>
              <a:gd name="connsiteY27" fmla="*/ 1206917 h 4795919"/>
              <a:gd name="connsiteX28" fmla="*/ 7052 w 9642536"/>
              <a:gd name="connsiteY28" fmla="*/ 47825 h 4795919"/>
              <a:gd name="connsiteX29" fmla="*/ 1166143 w 9642536"/>
              <a:gd name="connsiteY29" fmla="*/ 1206917 h 4795919"/>
              <a:gd name="connsiteX30" fmla="*/ 7052 w 9642536"/>
              <a:gd name="connsiteY30" fmla="*/ 2366008 h 4795919"/>
              <a:gd name="connsiteX31" fmla="*/ 0 w 9642536"/>
              <a:gd name="connsiteY31" fmla="*/ 2358956 h 4795919"/>
              <a:gd name="connsiteX32" fmla="*/ 0 w 9642536"/>
              <a:gd name="connsiteY32" fmla="*/ 54877 h 4795919"/>
              <a:gd name="connsiteX33" fmla="*/ 2483332 w 9642536"/>
              <a:gd name="connsiteY33" fmla="*/ 0 h 4795919"/>
              <a:gd name="connsiteX34" fmla="*/ 4785437 w 9642536"/>
              <a:gd name="connsiteY34" fmla="*/ 0 h 4795919"/>
              <a:gd name="connsiteX35" fmla="*/ 3634385 w 9642536"/>
              <a:gd name="connsiteY35" fmla="*/ 1151053 h 4795919"/>
              <a:gd name="connsiteX36" fmla="*/ 58800 w 9642536"/>
              <a:gd name="connsiteY36" fmla="*/ 0 h 4795919"/>
              <a:gd name="connsiteX37" fmla="*/ 2360906 w 9642536"/>
              <a:gd name="connsiteY37" fmla="*/ 0 h 4795919"/>
              <a:gd name="connsiteX38" fmla="*/ 1209853 w 9642536"/>
              <a:gd name="connsiteY38" fmla="*/ 1151053 h 47959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9642536" h="4795919">
                <a:moveTo>
                  <a:pt x="2422119" y="2477736"/>
                </a:moveTo>
                <a:lnTo>
                  <a:pt x="3581210" y="3636828"/>
                </a:lnTo>
                <a:lnTo>
                  <a:pt x="2422119" y="4795919"/>
                </a:lnTo>
                <a:lnTo>
                  <a:pt x="1263028" y="3636828"/>
                </a:lnTo>
                <a:close/>
                <a:moveTo>
                  <a:pt x="8483445" y="1262781"/>
                </a:moveTo>
                <a:lnTo>
                  <a:pt x="9642536" y="2421873"/>
                </a:lnTo>
                <a:lnTo>
                  <a:pt x="8483445" y="3580964"/>
                </a:lnTo>
                <a:lnTo>
                  <a:pt x="7324354" y="2421873"/>
                </a:lnTo>
                <a:close/>
                <a:moveTo>
                  <a:pt x="6058914" y="1262781"/>
                </a:moveTo>
                <a:lnTo>
                  <a:pt x="7218005" y="2421873"/>
                </a:lnTo>
                <a:lnTo>
                  <a:pt x="6058914" y="3580964"/>
                </a:lnTo>
                <a:lnTo>
                  <a:pt x="4899823" y="2421873"/>
                </a:lnTo>
                <a:close/>
                <a:moveTo>
                  <a:pt x="3634386" y="1262781"/>
                </a:moveTo>
                <a:lnTo>
                  <a:pt x="4793476" y="2421873"/>
                </a:lnTo>
                <a:lnTo>
                  <a:pt x="3634386" y="3580964"/>
                </a:lnTo>
                <a:lnTo>
                  <a:pt x="2475294" y="2421873"/>
                </a:lnTo>
                <a:close/>
                <a:moveTo>
                  <a:pt x="1209854" y="1262781"/>
                </a:moveTo>
                <a:lnTo>
                  <a:pt x="2368945" y="2421873"/>
                </a:lnTo>
                <a:lnTo>
                  <a:pt x="1209854" y="3580964"/>
                </a:lnTo>
                <a:lnTo>
                  <a:pt x="50763" y="2421873"/>
                </a:lnTo>
                <a:close/>
                <a:moveTo>
                  <a:pt x="2422119" y="47826"/>
                </a:moveTo>
                <a:lnTo>
                  <a:pt x="3581210" y="1206917"/>
                </a:lnTo>
                <a:lnTo>
                  <a:pt x="2422119" y="2366008"/>
                </a:lnTo>
                <a:lnTo>
                  <a:pt x="1263028" y="1206917"/>
                </a:lnTo>
                <a:close/>
                <a:moveTo>
                  <a:pt x="4846649" y="47825"/>
                </a:moveTo>
                <a:lnTo>
                  <a:pt x="6005739" y="1206917"/>
                </a:lnTo>
                <a:lnTo>
                  <a:pt x="4846649" y="2366008"/>
                </a:lnTo>
                <a:lnTo>
                  <a:pt x="3687558" y="1206917"/>
                </a:lnTo>
                <a:close/>
                <a:moveTo>
                  <a:pt x="7052" y="47825"/>
                </a:moveTo>
                <a:lnTo>
                  <a:pt x="1166143" y="1206917"/>
                </a:lnTo>
                <a:lnTo>
                  <a:pt x="7052" y="2366008"/>
                </a:lnTo>
                <a:lnTo>
                  <a:pt x="0" y="2358956"/>
                </a:lnTo>
                <a:lnTo>
                  <a:pt x="0" y="54877"/>
                </a:lnTo>
                <a:close/>
                <a:moveTo>
                  <a:pt x="2483332" y="0"/>
                </a:moveTo>
                <a:lnTo>
                  <a:pt x="4785437" y="0"/>
                </a:lnTo>
                <a:lnTo>
                  <a:pt x="3634385" y="1151053"/>
                </a:lnTo>
                <a:close/>
                <a:moveTo>
                  <a:pt x="58800" y="0"/>
                </a:moveTo>
                <a:lnTo>
                  <a:pt x="2360906" y="0"/>
                </a:lnTo>
                <a:lnTo>
                  <a:pt x="1209853" y="1151053"/>
                </a:lnTo>
                <a:close/>
              </a:path>
            </a:pathLst>
          </a:custGeom>
        </p:spPr>
      </p:pic>
      <p:sp>
        <p:nvSpPr>
          <p:cNvPr id="9" name="菱形 8">
            <a:extLst>
              <a:ext uri="{FF2B5EF4-FFF2-40B4-BE49-F238E27FC236}">
                <a16:creationId xmlns:a16="http://schemas.microsoft.com/office/drawing/2014/main" id="{F1326EB9-DC43-4C37-B491-456AE7A582A6}"/>
              </a:ext>
            </a:extLst>
          </p:cNvPr>
          <p:cNvSpPr/>
          <p:nvPr userDrawn="1"/>
        </p:nvSpPr>
        <p:spPr>
          <a:xfrm>
            <a:off x="1263029" y="2477738"/>
            <a:ext cx="2318183" cy="2318183"/>
          </a:xfrm>
          <a:prstGeom prst="diamond">
            <a:avLst/>
          </a:prstGeom>
          <a:solidFill>
            <a:srgbClr val="BF181F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zh-CN" altLang="en-US" sz="1800">
              <a:solidFill>
                <a:prstClr val="white"/>
              </a:solidFill>
              <a:latin typeface="Arial"/>
              <a:ea typeface="微软雅黑"/>
            </a:endParaRPr>
          </a:p>
        </p:txBody>
      </p:sp>
      <p:sp>
        <p:nvSpPr>
          <p:cNvPr id="10" name="菱形 9">
            <a:extLst>
              <a:ext uri="{FF2B5EF4-FFF2-40B4-BE49-F238E27FC236}">
                <a16:creationId xmlns:a16="http://schemas.microsoft.com/office/drawing/2014/main" id="{73CC10A7-E613-4947-9180-E2AEB99DDFED}"/>
              </a:ext>
            </a:extLst>
          </p:cNvPr>
          <p:cNvSpPr/>
          <p:nvPr userDrawn="1"/>
        </p:nvSpPr>
        <p:spPr>
          <a:xfrm>
            <a:off x="2475294" y="1262782"/>
            <a:ext cx="2318183" cy="2318183"/>
          </a:xfrm>
          <a:prstGeom prst="diamond">
            <a:avLst/>
          </a:prstGeom>
          <a:solidFill>
            <a:srgbClr val="BF181F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zh-CN" altLang="en-US" sz="1800">
              <a:solidFill>
                <a:prstClr val="white"/>
              </a:solidFill>
              <a:latin typeface="Arial"/>
              <a:ea typeface="微软雅黑"/>
            </a:endParaRPr>
          </a:p>
        </p:txBody>
      </p:sp>
      <p:sp>
        <p:nvSpPr>
          <p:cNvPr id="11" name="菱形 10">
            <a:extLst>
              <a:ext uri="{FF2B5EF4-FFF2-40B4-BE49-F238E27FC236}">
                <a16:creationId xmlns:a16="http://schemas.microsoft.com/office/drawing/2014/main" id="{4BD7B367-C00C-4144-AAEC-6EBDA1EB6B6B}"/>
              </a:ext>
            </a:extLst>
          </p:cNvPr>
          <p:cNvSpPr/>
          <p:nvPr userDrawn="1"/>
        </p:nvSpPr>
        <p:spPr>
          <a:xfrm>
            <a:off x="50763" y="1262782"/>
            <a:ext cx="2318183" cy="2318183"/>
          </a:xfrm>
          <a:prstGeom prst="diamond">
            <a:avLst/>
          </a:prstGeom>
          <a:solidFill>
            <a:srgbClr val="BF181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zh-CN" altLang="en-US" sz="1800">
              <a:solidFill>
                <a:prstClr val="white"/>
              </a:solidFill>
              <a:latin typeface="Arial"/>
              <a:ea typeface="微软雅黑"/>
            </a:endParaRPr>
          </a:p>
        </p:txBody>
      </p:sp>
      <p:sp>
        <p:nvSpPr>
          <p:cNvPr id="12" name="菱形 11">
            <a:extLst>
              <a:ext uri="{FF2B5EF4-FFF2-40B4-BE49-F238E27FC236}">
                <a16:creationId xmlns:a16="http://schemas.microsoft.com/office/drawing/2014/main" id="{347E631F-0A0E-4433-8F85-5EF60E58E816}"/>
              </a:ext>
            </a:extLst>
          </p:cNvPr>
          <p:cNvSpPr/>
          <p:nvPr userDrawn="1"/>
        </p:nvSpPr>
        <p:spPr>
          <a:xfrm>
            <a:off x="1263029" y="47826"/>
            <a:ext cx="2318183" cy="2318183"/>
          </a:xfrm>
          <a:prstGeom prst="diamond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zh-CN" altLang="en-US" sz="1800">
              <a:solidFill>
                <a:prstClr val="white"/>
              </a:solidFill>
              <a:latin typeface="Arial"/>
              <a:ea typeface="微软雅黑"/>
            </a:endParaRPr>
          </a:p>
        </p:txBody>
      </p:sp>
      <p:sp>
        <p:nvSpPr>
          <p:cNvPr id="13" name="菱形 12">
            <a:extLst>
              <a:ext uri="{FF2B5EF4-FFF2-40B4-BE49-F238E27FC236}">
                <a16:creationId xmlns:a16="http://schemas.microsoft.com/office/drawing/2014/main" id="{14A39F7F-0A49-48FD-A789-074E7ADB150B}"/>
              </a:ext>
            </a:extLst>
          </p:cNvPr>
          <p:cNvSpPr/>
          <p:nvPr userDrawn="1"/>
        </p:nvSpPr>
        <p:spPr>
          <a:xfrm>
            <a:off x="7324355" y="1262782"/>
            <a:ext cx="2318183" cy="2318183"/>
          </a:xfrm>
          <a:prstGeom prst="diamond">
            <a:avLst/>
          </a:prstGeom>
          <a:solidFill>
            <a:srgbClr val="BF181F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zh-CN" altLang="en-US" sz="1800">
              <a:solidFill>
                <a:prstClr val="white"/>
              </a:solidFill>
              <a:latin typeface="Arial"/>
              <a:ea typeface="微软雅黑"/>
            </a:endParaRPr>
          </a:p>
        </p:txBody>
      </p:sp>
      <p:sp>
        <p:nvSpPr>
          <p:cNvPr id="14" name="菱形 13">
            <a:extLst>
              <a:ext uri="{FF2B5EF4-FFF2-40B4-BE49-F238E27FC236}">
                <a16:creationId xmlns:a16="http://schemas.microsoft.com/office/drawing/2014/main" id="{140CC0B1-CF04-4459-BE53-D57A4513C28B}"/>
              </a:ext>
            </a:extLst>
          </p:cNvPr>
          <p:cNvSpPr/>
          <p:nvPr userDrawn="1"/>
        </p:nvSpPr>
        <p:spPr>
          <a:xfrm>
            <a:off x="4899825" y="1262782"/>
            <a:ext cx="2318183" cy="2318183"/>
          </a:xfrm>
          <a:prstGeom prst="diamond">
            <a:avLst/>
          </a:prstGeom>
          <a:solidFill>
            <a:srgbClr val="BF181F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zh-CN" altLang="en-US" sz="1800">
              <a:solidFill>
                <a:prstClr val="white"/>
              </a:solidFill>
              <a:latin typeface="Arial"/>
              <a:ea typeface="微软雅黑"/>
            </a:endParaRPr>
          </a:p>
        </p:txBody>
      </p:sp>
      <p:sp>
        <p:nvSpPr>
          <p:cNvPr id="15" name="任意多边形 42">
            <a:extLst>
              <a:ext uri="{FF2B5EF4-FFF2-40B4-BE49-F238E27FC236}">
                <a16:creationId xmlns:a16="http://schemas.microsoft.com/office/drawing/2014/main" id="{95B5E004-5177-4FB2-8322-4D05ECAC8B08}"/>
              </a:ext>
            </a:extLst>
          </p:cNvPr>
          <p:cNvSpPr/>
          <p:nvPr userDrawn="1"/>
        </p:nvSpPr>
        <p:spPr>
          <a:xfrm>
            <a:off x="4905172" y="2"/>
            <a:ext cx="4732016" cy="2366007"/>
          </a:xfrm>
          <a:custGeom>
            <a:avLst/>
            <a:gdLst>
              <a:gd name="connsiteX0" fmla="*/ 0 w 4732016"/>
              <a:gd name="connsiteY0" fmla="*/ 0 h 2366007"/>
              <a:gd name="connsiteX1" fmla="*/ 4732016 w 4732016"/>
              <a:gd name="connsiteY1" fmla="*/ 0 h 2366007"/>
              <a:gd name="connsiteX2" fmla="*/ 2366008 w 4732016"/>
              <a:gd name="connsiteY2" fmla="*/ 2366007 h 236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32016" h="2366007">
                <a:moveTo>
                  <a:pt x="0" y="0"/>
                </a:moveTo>
                <a:lnTo>
                  <a:pt x="4732016" y="0"/>
                </a:lnTo>
                <a:lnTo>
                  <a:pt x="2366008" y="2366007"/>
                </a:lnTo>
                <a:close/>
              </a:path>
            </a:pathLst>
          </a:custGeom>
          <a:solidFill>
            <a:srgbClr val="BF18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zh-CN" altLang="en-US" sz="1800">
              <a:solidFill>
                <a:prstClr val="white"/>
              </a:solidFill>
              <a:latin typeface="Arial"/>
              <a:ea typeface="微软雅黑"/>
            </a:endParaRPr>
          </a:p>
        </p:txBody>
      </p:sp>
      <p:sp>
        <p:nvSpPr>
          <p:cNvPr id="16" name="菱形 15">
            <a:extLst>
              <a:ext uri="{FF2B5EF4-FFF2-40B4-BE49-F238E27FC236}">
                <a16:creationId xmlns:a16="http://schemas.microsoft.com/office/drawing/2014/main" id="{7C6ED59D-5A3B-4464-9BF4-975C4505FB5C}"/>
              </a:ext>
            </a:extLst>
          </p:cNvPr>
          <p:cNvSpPr/>
          <p:nvPr userDrawn="1"/>
        </p:nvSpPr>
        <p:spPr>
          <a:xfrm>
            <a:off x="3687558" y="47826"/>
            <a:ext cx="2318183" cy="2318183"/>
          </a:xfrm>
          <a:prstGeom prst="diamond">
            <a:avLst/>
          </a:prstGeom>
          <a:solidFill>
            <a:srgbClr val="BF181F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zh-CN" altLang="en-US" sz="1800">
              <a:solidFill>
                <a:prstClr val="white"/>
              </a:solidFill>
              <a:latin typeface="Arial"/>
              <a:ea typeface="微软雅黑"/>
            </a:endParaRPr>
          </a:p>
        </p:txBody>
      </p:sp>
      <p:sp>
        <p:nvSpPr>
          <p:cNvPr id="17" name="任意多边形 40">
            <a:extLst>
              <a:ext uri="{FF2B5EF4-FFF2-40B4-BE49-F238E27FC236}">
                <a16:creationId xmlns:a16="http://schemas.microsoft.com/office/drawing/2014/main" id="{63AC1129-C930-4C68-B29E-34714A28FCBA}"/>
              </a:ext>
            </a:extLst>
          </p:cNvPr>
          <p:cNvSpPr/>
          <p:nvPr userDrawn="1"/>
        </p:nvSpPr>
        <p:spPr>
          <a:xfrm>
            <a:off x="2483332" y="0"/>
            <a:ext cx="2302107" cy="1151053"/>
          </a:xfrm>
          <a:custGeom>
            <a:avLst/>
            <a:gdLst>
              <a:gd name="connsiteX0" fmla="*/ 0 w 2302106"/>
              <a:gd name="connsiteY0" fmla="*/ 0 h 1151053"/>
              <a:gd name="connsiteX1" fmla="*/ 2302106 w 2302106"/>
              <a:gd name="connsiteY1" fmla="*/ 0 h 1151053"/>
              <a:gd name="connsiteX2" fmla="*/ 1151053 w 2302106"/>
              <a:gd name="connsiteY2" fmla="*/ 1151053 h 11510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02106" h="1151053">
                <a:moveTo>
                  <a:pt x="0" y="0"/>
                </a:moveTo>
                <a:lnTo>
                  <a:pt x="2302106" y="0"/>
                </a:lnTo>
                <a:lnTo>
                  <a:pt x="1151053" y="1151053"/>
                </a:lnTo>
                <a:close/>
              </a:path>
            </a:pathLst>
          </a:custGeom>
          <a:solidFill>
            <a:srgbClr val="BF181F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zh-CN" altLang="en-US" sz="1800">
              <a:solidFill>
                <a:prstClr val="white"/>
              </a:solidFill>
              <a:latin typeface="Arial"/>
              <a:ea typeface="微软雅黑"/>
            </a:endParaRPr>
          </a:p>
        </p:txBody>
      </p:sp>
      <p:sp>
        <p:nvSpPr>
          <p:cNvPr id="18" name="任意多边形 38">
            <a:extLst>
              <a:ext uri="{FF2B5EF4-FFF2-40B4-BE49-F238E27FC236}">
                <a16:creationId xmlns:a16="http://schemas.microsoft.com/office/drawing/2014/main" id="{8AF35B47-F82E-4D04-8ED3-89A6B370EA30}"/>
              </a:ext>
            </a:extLst>
          </p:cNvPr>
          <p:cNvSpPr/>
          <p:nvPr userDrawn="1"/>
        </p:nvSpPr>
        <p:spPr>
          <a:xfrm>
            <a:off x="58801" y="12583"/>
            <a:ext cx="2302107" cy="1151053"/>
          </a:xfrm>
          <a:custGeom>
            <a:avLst/>
            <a:gdLst>
              <a:gd name="connsiteX0" fmla="*/ 0 w 2302106"/>
              <a:gd name="connsiteY0" fmla="*/ 0 h 1151053"/>
              <a:gd name="connsiteX1" fmla="*/ 2302106 w 2302106"/>
              <a:gd name="connsiteY1" fmla="*/ 0 h 1151053"/>
              <a:gd name="connsiteX2" fmla="*/ 1151053 w 2302106"/>
              <a:gd name="connsiteY2" fmla="*/ 1151053 h 11510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02106" h="1151053">
                <a:moveTo>
                  <a:pt x="0" y="0"/>
                </a:moveTo>
                <a:lnTo>
                  <a:pt x="2302106" y="0"/>
                </a:lnTo>
                <a:lnTo>
                  <a:pt x="1151053" y="1151053"/>
                </a:lnTo>
                <a:close/>
              </a:path>
            </a:pathLst>
          </a:custGeom>
          <a:solidFill>
            <a:srgbClr val="BF181F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zh-CN" altLang="en-US" sz="1800">
              <a:solidFill>
                <a:prstClr val="white"/>
              </a:solidFill>
              <a:latin typeface="Arial"/>
              <a:ea typeface="微软雅黑"/>
            </a:endParaRPr>
          </a:p>
        </p:txBody>
      </p:sp>
      <p:cxnSp>
        <p:nvCxnSpPr>
          <p:cNvPr id="19" name="直接连接符 33">
            <a:extLst>
              <a:ext uri="{FF2B5EF4-FFF2-40B4-BE49-F238E27FC236}">
                <a16:creationId xmlns:a16="http://schemas.microsoft.com/office/drawing/2014/main" id="{6D279DD6-23A7-49D1-A790-4A6240B327FF}"/>
              </a:ext>
            </a:extLst>
          </p:cNvPr>
          <p:cNvCxnSpPr>
            <a:cxnSpLocks/>
          </p:cNvCxnSpPr>
          <p:nvPr userDrawn="1"/>
        </p:nvCxnSpPr>
        <p:spPr>
          <a:xfrm flipH="1">
            <a:off x="4179383" y="4559062"/>
            <a:ext cx="328" cy="1257917"/>
          </a:xfrm>
          <a:prstGeom prst="line">
            <a:avLst/>
          </a:prstGeom>
          <a:ln w="76200">
            <a:solidFill>
              <a:srgbClr val="BF181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组合 47">
            <a:extLst>
              <a:ext uri="{FF2B5EF4-FFF2-40B4-BE49-F238E27FC236}">
                <a16:creationId xmlns:a16="http://schemas.microsoft.com/office/drawing/2014/main" id="{71C230DC-3ECA-4103-B4F9-CA5C86E739D4}"/>
              </a:ext>
            </a:extLst>
          </p:cNvPr>
          <p:cNvGrpSpPr/>
          <p:nvPr userDrawn="1"/>
        </p:nvGrpSpPr>
        <p:grpSpPr>
          <a:xfrm>
            <a:off x="11287296" y="459412"/>
            <a:ext cx="468312" cy="232229"/>
            <a:chOff x="11317288" y="682171"/>
            <a:chExt cx="468312" cy="232229"/>
          </a:xfrm>
        </p:grpSpPr>
        <p:cxnSp>
          <p:nvCxnSpPr>
            <p:cNvPr id="21" name="直接连接符 44">
              <a:extLst>
                <a:ext uri="{FF2B5EF4-FFF2-40B4-BE49-F238E27FC236}">
                  <a16:creationId xmlns:a16="http://schemas.microsoft.com/office/drawing/2014/main" id="{088F6638-F3B2-4FAC-99C0-92AB27B29EB4}"/>
                </a:ext>
              </a:extLst>
            </p:cNvPr>
            <p:cNvCxnSpPr/>
            <p:nvPr/>
          </p:nvCxnSpPr>
          <p:spPr>
            <a:xfrm>
              <a:off x="11317288" y="682171"/>
              <a:ext cx="468312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45">
              <a:extLst>
                <a:ext uri="{FF2B5EF4-FFF2-40B4-BE49-F238E27FC236}">
                  <a16:creationId xmlns:a16="http://schemas.microsoft.com/office/drawing/2014/main" id="{59CD4218-8616-44FC-B7DF-A8107517BEA5}"/>
                </a:ext>
              </a:extLst>
            </p:cNvPr>
            <p:cNvCxnSpPr/>
            <p:nvPr/>
          </p:nvCxnSpPr>
          <p:spPr>
            <a:xfrm>
              <a:off x="11317288" y="798285"/>
              <a:ext cx="468312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46">
              <a:extLst>
                <a:ext uri="{FF2B5EF4-FFF2-40B4-BE49-F238E27FC236}">
                  <a16:creationId xmlns:a16="http://schemas.microsoft.com/office/drawing/2014/main" id="{7BEA23A0-A1D1-453B-8C7E-1E38AF5E96AD}"/>
                </a:ext>
              </a:extLst>
            </p:cNvPr>
            <p:cNvCxnSpPr/>
            <p:nvPr/>
          </p:nvCxnSpPr>
          <p:spPr>
            <a:xfrm>
              <a:off x="11317288" y="914400"/>
              <a:ext cx="468312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4" name="圖片 23" descr="一張含有 文字, 美工圖案 的圖片&#10;&#10;自動產生的描述">
            <a:extLst>
              <a:ext uri="{FF2B5EF4-FFF2-40B4-BE49-F238E27FC236}">
                <a16:creationId xmlns:a16="http://schemas.microsoft.com/office/drawing/2014/main" id="{F5485958-073B-4FA4-9A27-1C922F90ACB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8982" y="739761"/>
            <a:ext cx="2011092" cy="854956"/>
          </a:xfrm>
          <a:prstGeom prst="rect">
            <a:avLst/>
          </a:prstGeom>
        </p:spPr>
      </p:pic>
      <p:sp>
        <p:nvSpPr>
          <p:cNvPr id="25" name="內容版面配置區 23">
            <a:extLst>
              <a:ext uri="{FF2B5EF4-FFF2-40B4-BE49-F238E27FC236}">
                <a16:creationId xmlns:a16="http://schemas.microsoft.com/office/drawing/2014/main" id="{B0266DCC-7B20-4618-A1BB-87CDE5D8D8C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194884" y="4602014"/>
            <a:ext cx="7634817" cy="121496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4267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4092161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250"/>
                            </p:stCondLst>
                            <p:childTnLst>
                              <p:par>
                                <p:cTn id="4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500"/>
                            </p:stCondLst>
                            <p:childTnLst>
                              <p:par>
                                <p:cTn id="4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大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 9">
            <a:extLst>
              <a:ext uri="{FF2B5EF4-FFF2-40B4-BE49-F238E27FC236}">
                <a16:creationId xmlns:a16="http://schemas.microsoft.com/office/drawing/2014/main" id="{728CF358-B1FF-41B6-B49C-E470613DB8C3}"/>
              </a:ext>
            </a:extLst>
          </p:cNvPr>
          <p:cNvSpPr/>
          <p:nvPr userDrawn="1"/>
        </p:nvSpPr>
        <p:spPr>
          <a:xfrm>
            <a:off x="203202" y="203201"/>
            <a:ext cx="3428999" cy="6858001"/>
          </a:xfrm>
          <a:custGeom>
            <a:avLst/>
            <a:gdLst>
              <a:gd name="connsiteX0" fmla="*/ 0 w 3428999"/>
              <a:gd name="connsiteY0" fmla="*/ 0 h 6858001"/>
              <a:gd name="connsiteX1" fmla="*/ 3428999 w 3428999"/>
              <a:gd name="connsiteY1" fmla="*/ 3429001 h 6858001"/>
              <a:gd name="connsiteX2" fmla="*/ 0 w 3428999"/>
              <a:gd name="connsiteY2" fmla="*/ 685800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28999" h="6858001">
                <a:moveTo>
                  <a:pt x="0" y="0"/>
                </a:moveTo>
                <a:lnTo>
                  <a:pt x="3428999" y="3429001"/>
                </a:lnTo>
                <a:lnTo>
                  <a:pt x="0" y="6858001"/>
                </a:lnTo>
                <a:close/>
              </a:path>
            </a:pathLst>
          </a:custGeom>
          <a:solidFill>
            <a:srgbClr val="BF18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zh-CN" altLang="en-US" sz="1800">
              <a:solidFill>
                <a:prstClr val="white"/>
              </a:solidFill>
              <a:latin typeface="Arial"/>
              <a:ea typeface="微软雅黑"/>
            </a:endParaRPr>
          </a:p>
        </p:txBody>
      </p:sp>
      <p:grpSp>
        <p:nvGrpSpPr>
          <p:cNvPr id="8" name="组合 19">
            <a:extLst>
              <a:ext uri="{FF2B5EF4-FFF2-40B4-BE49-F238E27FC236}">
                <a16:creationId xmlns:a16="http://schemas.microsoft.com/office/drawing/2014/main" id="{A29B59CA-1A1B-40A2-8B97-4D54B811DF7A}"/>
              </a:ext>
            </a:extLst>
          </p:cNvPr>
          <p:cNvGrpSpPr/>
          <p:nvPr userDrawn="1"/>
        </p:nvGrpSpPr>
        <p:grpSpPr>
          <a:xfrm>
            <a:off x="10507405" y="203200"/>
            <a:ext cx="1887795" cy="3584189"/>
            <a:chOff x="10304206" y="0"/>
            <a:chExt cx="1887794" cy="3584189"/>
          </a:xfrm>
        </p:grpSpPr>
        <p:sp>
          <p:nvSpPr>
            <p:cNvPr id="9" name="文本框 31">
              <a:extLst>
                <a:ext uri="{FF2B5EF4-FFF2-40B4-BE49-F238E27FC236}">
                  <a16:creationId xmlns:a16="http://schemas.microsoft.com/office/drawing/2014/main" id="{3868C498-3089-4BED-9F0D-954A4003942C}"/>
                </a:ext>
              </a:extLst>
            </p:cNvPr>
            <p:cNvSpPr txBox="1"/>
            <p:nvPr/>
          </p:nvSpPr>
          <p:spPr>
            <a:xfrm rot="5400000">
              <a:off x="9722979" y="2107104"/>
              <a:ext cx="2530218" cy="423951"/>
            </a:xfrm>
            <a:custGeom>
              <a:avLst/>
              <a:gdLst/>
              <a:ahLst/>
              <a:cxnLst/>
              <a:rect l="l" t="t" r="r" b="b"/>
              <a:pathLst>
                <a:path w="2530218" h="423951">
                  <a:moveTo>
                    <a:pt x="2274475" y="82046"/>
                  </a:moveTo>
                  <a:lnTo>
                    <a:pt x="2283805" y="10153"/>
                  </a:lnTo>
                  <a:lnTo>
                    <a:pt x="2530218" y="10153"/>
                  </a:lnTo>
                  <a:lnTo>
                    <a:pt x="2521437" y="82046"/>
                  </a:lnTo>
                  <a:lnTo>
                    <a:pt x="2437303" y="82046"/>
                  </a:lnTo>
                  <a:lnTo>
                    <a:pt x="2391971" y="413798"/>
                  </a:lnTo>
                  <a:lnTo>
                    <a:pt x="2316733" y="413798"/>
                  </a:lnTo>
                  <a:lnTo>
                    <a:pt x="2362065" y="82046"/>
                  </a:lnTo>
                  <a:close/>
                  <a:moveTo>
                    <a:pt x="1862479" y="413798"/>
                  </a:moveTo>
                  <a:lnTo>
                    <a:pt x="1917077" y="10153"/>
                  </a:lnTo>
                  <a:lnTo>
                    <a:pt x="1983212" y="10153"/>
                  </a:lnTo>
                  <a:lnTo>
                    <a:pt x="2128778" y="284555"/>
                  </a:lnTo>
                  <a:lnTo>
                    <a:pt x="2166272" y="10153"/>
                  </a:lnTo>
                  <a:lnTo>
                    <a:pt x="2240215" y="10153"/>
                  </a:lnTo>
                  <a:lnTo>
                    <a:pt x="2185339" y="413798"/>
                  </a:lnTo>
                  <a:lnTo>
                    <a:pt x="2120619" y="413798"/>
                  </a:lnTo>
                  <a:lnTo>
                    <a:pt x="1973132" y="136378"/>
                  </a:lnTo>
                  <a:lnTo>
                    <a:pt x="1935226" y="413798"/>
                  </a:lnTo>
                  <a:close/>
                  <a:moveTo>
                    <a:pt x="1562021" y="413798"/>
                  </a:moveTo>
                  <a:lnTo>
                    <a:pt x="1617175" y="10153"/>
                  </a:lnTo>
                  <a:lnTo>
                    <a:pt x="1834227" y="10153"/>
                  </a:lnTo>
                  <a:lnTo>
                    <a:pt x="1824932" y="81772"/>
                  </a:lnTo>
                  <a:lnTo>
                    <a:pt x="1684087" y="81772"/>
                  </a:lnTo>
                  <a:lnTo>
                    <a:pt x="1672510" y="165190"/>
                  </a:lnTo>
                  <a:lnTo>
                    <a:pt x="1814097" y="165190"/>
                  </a:lnTo>
                  <a:lnTo>
                    <a:pt x="1804875" y="236260"/>
                  </a:lnTo>
                  <a:lnTo>
                    <a:pt x="1662653" y="236260"/>
                  </a:lnTo>
                  <a:lnTo>
                    <a:pt x="1647801" y="343277"/>
                  </a:lnTo>
                  <a:lnTo>
                    <a:pt x="1790975" y="343277"/>
                  </a:lnTo>
                  <a:lnTo>
                    <a:pt x="1781817" y="413798"/>
                  </a:lnTo>
                  <a:close/>
                  <a:moveTo>
                    <a:pt x="1321975" y="82046"/>
                  </a:moveTo>
                  <a:lnTo>
                    <a:pt x="1331305" y="10153"/>
                  </a:lnTo>
                  <a:lnTo>
                    <a:pt x="1577717" y="10153"/>
                  </a:lnTo>
                  <a:lnTo>
                    <a:pt x="1568937" y="82046"/>
                  </a:lnTo>
                  <a:lnTo>
                    <a:pt x="1484802" y="82046"/>
                  </a:lnTo>
                  <a:lnTo>
                    <a:pt x="1439470" y="413798"/>
                  </a:lnTo>
                  <a:lnTo>
                    <a:pt x="1364233" y="413798"/>
                  </a:lnTo>
                  <a:lnTo>
                    <a:pt x="1409565" y="82046"/>
                  </a:lnTo>
                  <a:close/>
                  <a:moveTo>
                    <a:pt x="909980" y="413798"/>
                  </a:moveTo>
                  <a:lnTo>
                    <a:pt x="964577" y="10153"/>
                  </a:lnTo>
                  <a:lnTo>
                    <a:pt x="1030712" y="10153"/>
                  </a:lnTo>
                  <a:lnTo>
                    <a:pt x="1176278" y="284555"/>
                  </a:lnTo>
                  <a:lnTo>
                    <a:pt x="1213772" y="10153"/>
                  </a:lnTo>
                  <a:lnTo>
                    <a:pt x="1287715" y="10153"/>
                  </a:lnTo>
                  <a:lnTo>
                    <a:pt x="1232839" y="413798"/>
                  </a:lnTo>
                  <a:lnTo>
                    <a:pt x="1168119" y="413798"/>
                  </a:lnTo>
                  <a:lnTo>
                    <a:pt x="1020632" y="136378"/>
                  </a:lnTo>
                  <a:lnTo>
                    <a:pt x="982726" y="413798"/>
                  </a:lnTo>
                  <a:close/>
                  <a:moveTo>
                    <a:pt x="511964" y="234339"/>
                  </a:moveTo>
                  <a:cubicBezTo>
                    <a:pt x="511964" y="267450"/>
                    <a:pt x="522117" y="295531"/>
                    <a:pt x="542423" y="318581"/>
                  </a:cubicBezTo>
                  <a:cubicBezTo>
                    <a:pt x="562729" y="341630"/>
                    <a:pt x="591907" y="353155"/>
                    <a:pt x="629957" y="353155"/>
                  </a:cubicBezTo>
                  <a:cubicBezTo>
                    <a:pt x="674044" y="353155"/>
                    <a:pt x="711500" y="337606"/>
                    <a:pt x="742324" y="306507"/>
                  </a:cubicBezTo>
                  <a:cubicBezTo>
                    <a:pt x="773149" y="275408"/>
                    <a:pt x="788561" y="237632"/>
                    <a:pt x="788561" y="193179"/>
                  </a:cubicBezTo>
                  <a:cubicBezTo>
                    <a:pt x="788561" y="156409"/>
                    <a:pt x="777722" y="126957"/>
                    <a:pt x="756045" y="104822"/>
                  </a:cubicBezTo>
                  <a:cubicBezTo>
                    <a:pt x="734367" y="82686"/>
                    <a:pt x="705966" y="71619"/>
                    <a:pt x="670843" y="71619"/>
                  </a:cubicBezTo>
                  <a:cubicBezTo>
                    <a:pt x="641939" y="71619"/>
                    <a:pt x="615551" y="78616"/>
                    <a:pt x="591678" y="92611"/>
                  </a:cubicBezTo>
                  <a:cubicBezTo>
                    <a:pt x="567805" y="106605"/>
                    <a:pt x="548551" y="126728"/>
                    <a:pt x="533916" y="152979"/>
                  </a:cubicBezTo>
                  <a:cubicBezTo>
                    <a:pt x="519282" y="179230"/>
                    <a:pt x="511964" y="206350"/>
                    <a:pt x="511964" y="234339"/>
                  </a:cubicBezTo>
                  <a:close/>
                  <a:moveTo>
                    <a:pt x="436778" y="238455"/>
                  </a:moveTo>
                  <a:cubicBezTo>
                    <a:pt x="436778" y="175343"/>
                    <a:pt x="457267" y="121103"/>
                    <a:pt x="498244" y="75735"/>
                  </a:cubicBezTo>
                  <a:cubicBezTo>
                    <a:pt x="543978" y="25245"/>
                    <a:pt x="602425" y="0"/>
                    <a:pt x="673587" y="0"/>
                  </a:cubicBezTo>
                  <a:cubicBezTo>
                    <a:pt x="729016" y="0"/>
                    <a:pt x="774750" y="17836"/>
                    <a:pt x="810788" y="53508"/>
                  </a:cubicBezTo>
                  <a:cubicBezTo>
                    <a:pt x="846826" y="89181"/>
                    <a:pt x="864845" y="134457"/>
                    <a:pt x="864845" y="189337"/>
                  </a:cubicBezTo>
                  <a:cubicBezTo>
                    <a:pt x="864845" y="231412"/>
                    <a:pt x="854189" y="271063"/>
                    <a:pt x="832877" y="308290"/>
                  </a:cubicBezTo>
                  <a:cubicBezTo>
                    <a:pt x="811565" y="345518"/>
                    <a:pt x="783210" y="374101"/>
                    <a:pt x="747813" y="394041"/>
                  </a:cubicBezTo>
                  <a:cubicBezTo>
                    <a:pt x="712415" y="413981"/>
                    <a:pt x="671758" y="423951"/>
                    <a:pt x="625841" y="423951"/>
                  </a:cubicBezTo>
                  <a:cubicBezTo>
                    <a:pt x="568399" y="423951"/>
                    <a:pt x="522529" y="406938"/>
                    <a:pt x="488228" y="372912"/>
                  </a:cubicBezTo>
                  <a:cubicBezTo>
                    <a:pt x="453928" y="338886"/>
                    <a:pt x="436778" y="294067"/>
                    <a:pt x="436778" y="238455"/>
                  </a:cubicBezTo>
                  <a:close/>
                  <a:moveTo>
                    <a:pt x="0" y="227479"/>
                  </a:moveTo>
                  <a:cubicBezTo>
                    <a:pt x="0" y="188514"/>
                    <a:pt x="10656" y="151150"/>
                    <a:pt x="31968" y="115386"/>
                  </a:cubicBezTo>
                  <a:cubicBezTo>
                    <a:pt x="53280" y="79622"/>
                    <a:pt x="82138" y="51450"/>
                    <a:pt x="118542" y="30870"/>
                  </a:cubicBezTo>
                  <a:cubicBezTo>
                    <a:pt x="154946" y="10290"/>
                    <a:pt x="194642" y="0"/>
                    <a:pt x="237632" y="0"/>
                  </a:cubicBezTo>
                  <a:cubicBezTo>
                    <a:pt x="298001" y="0"/>
                    <a:pt x="350228" y="20806"/>
                    <a:pt x="394316" y="62418"/>
                  </a:cubicBezTo>
                  <a:lnTo>
                    <a:pt x="339161" y="113560"/>
                  </a:lnTo>
                  <a:cubicBezTo>
                    <a:pt x="327270" y="99854"/>
                    <a:pt x="312727" y="89300"/>
                    <a:pt x="295531" y="81898"/>
                  </a:cubicBezTo>
                  <a:cubicBezTo>
                    <a:pt x="278335" y="74496"/>
                    <a:pt x="259676" y="70796"/>
                    <a:pt x="239553" y="70796"/>
                  </a:cubicBezTo>
                  <a:cubicBezTo>
                    <a:pt x="211381" y="70796"/>
                    <a:pt x="184398" y="78014"/>
                    <a:pt x="158604" y="92452"/>
                  </a:cubicBezTo>
                  <a:cubicBezTo>
                    <a:pt x="132811" y="106890"/>
                    <a:pt x="112733" y="125988"/>
                    <a:pt x="98373" y="149746"/>
                  </a:cubicBezTo>
                  <a:cubicBezTo>
                    <a:pt x="84013" y="173505"/>
                    <a:pt x="76833" y="198817"/>
                    <a:pt x="76833" y="225683"/>
                  </a:cubicBezTo>
                  <a:cubicBezTo>
                    <a:pt x="76833" y="262232"/>
                    <a:pt x="89455" y="292615"/>
                    <a:pt x="114700" y="316831"/>
                  </a:cubicBezTo>
                  <a:cubicBezTo>
                    <a:pt x="139945" y="341047"/>
                    <a:pt x="172324" y="353155"/>
                    <a:pt x="211838" y="353155"/>
                  </a:cubicBezTo>
                  <a:cubicBezTo>
                    <a:pt x="254096" y="353155"/>
                    <a:pt x="290683" y="340899"/>
                    <a:pt x="321599" y="316385"/>
                  </a:cubicBezTo>
                  <a:lnTo>
                    <a:pt x="366327" y="375382"/>
                  </a:lnTo>
                  <a:cubicBezTo>
                    <a:pt x="320410" y="407761"/>
                    <a:pt x="267267" y="423951"/>
                    <a:pt x="206899" y="423951"/>
                  </a:cubicBezTo>
                  <a:cubicBezTo>
                    <a:pt x="164458" y="423951"/>
                    <a:pt x="128374" y="415902"/>
                    <a:pt x="98648" y="399804"/>
                  </a:cubicBezTo>
                  <a:cubicBezTo>
                    <a:pt x="68921" y="383705"/>
                    <a:pt x="45048" y="360061"/>
                    <a:pt x="27029" y="328871"/>
                  </a:cubicBezTo>
                  <a:cubicBezTo>
                    <a:pt x="9010" y="297680"/>
                    <a:pt x="0" y="263883"/>
                    <a:pt x="0" y="227479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  <a:prstTxWarp prst="textNoShape">
                <a:avLst/>
              </a:prstTxWarp>
              <a:no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 defTabSz="914377"/>
              <a:endParaRPr lang="zh-CN" altLang="en-US" sz="4400" b="1" i="1" dirty="0">
                <a:solidFill>
                  <a:prstClr val="black"/>
                </a:solidFill>
                <a:latin typeface="Century Gothic" panose="020B0502020202020204" pitchFamily="34" charset="0"/>
                <a:ea typeface="微软雅黑"/>
              </a:endParaRPr>
            </a:p>
          </p:txBody>
        </p:sp>
        <p:sp>
          <p:nvSpPr>
            <p:cNvPr id="10" name="任意多边形 13">
              <a:extLst>
                <a:ext uri="{FF2B5EF4-FFF2-40B4-BE49-F238E27FC236}">
                  <a16:creationId xmlns:a16="http://schemas.microsoft.com/office/drawing/2014/main" id="{102E8200-CA5F-48F8-BD10-F6740D64757F}"/>
                </a:ext>
              </a:extLst>
            </p:cNvPr>
            <p:cNvSpPr/>
            <p:nvPr/>
          </p:nvSpPr>
          <p:spPr>
            <a:xfrm>
              <a:off x="10304206" y="0"/>
              <a:ext cx="1887794" cy="3046772"/>
            </a:xfrm>
            <a:custGeom>
              <a:avLst/>
              <a:gdLst>
                <a:gd name="connsiteX0" fmla="*/ 1158976 w 1887794"/>
                <a:gd name="connsiteY0" fmla="*/ 0 h 3046772"/>
                <a:gd name="connsiteX1" fmla="*/ 1887794 w 1887794"/>
                <a:gd name="connsiteY1" fmla="*/ 0 h 3046772"/>
                <a:gd name="connsiteX2" fmla="*/ 1887794 w 1887794"/>
                <a:gd name="connsiteY2" fmla="*/ 3046772 h 3046772"/>
                <a:gd name="connsiteX3" fmla="*/ 0 w 1887794"/>
                <a:gd name="connsiteY3" fmla="*/ 1158977 h 3046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87794" h="3046772">
                  <a:moveTo>
                    <a:pt x="1158976" y="0"/>
                  </a:moveTo>
                  <a:lnTo>
                    <a:pt x="1887794" y="0"/>
                  </a:lnTo>
                  <a:lnTo>
                    <a:pt x="1887794" y="3046772"/>
                  </a:lnTo>
                  <a:lnTo>
                    <a:pt x="0" y="1158977"/>
                  </a:lnTo>
                  <a:close/>
                </a:path>
              </a:pathLst>
            </a:custGeom>
            <a:solidFill>
              <a:srgbClr val="BF181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/>
              <a:endParaRPr lang="zh-CN" altLang="en-US" sz="1800">
                <a:solidFill>
                  <a:prstClr val="white"/>
                </a:solidFill>
                <a:latin typeface="Arial"/>
                <a:ea typeface="微软雅黑"/>
              </a:endParaRPr>
            </a:p>
          </p:txBody>
        </p:sp>
        <p:sp>
          <p:nvSpPr>
            <p:cNvPr id="11" name="任意多边形 36">
              <a:extLst>
                <a:ext uri="{FF2B5EF4-FFF2-40B4-BE49-F238E27FC236}">
                  <a16:creationId xmlns:a16="http://schemas.microsoft.com/office/drawing/2014/main" id="{EEC50B43-2028-4B75-A700-072F84779072}"/>
                </a:ext>
              </a:extLst>
            </p:cNvPr>
            <p:cNvSpPr/>
            <p:nvPr/>
          </p:nvSpPr>
          <p:spPr>
            <a:xfrm>
              <a:off x="10776112" y="1053972"/>
              <a:ext cx="423952" cy="990710"/>
            </a:xfrm>
            <a:custGeom>
              <a:avLst/>
              <a:gdLst>
                <a:gd name="connsiteX0" fmla="*/ 383577 w 423952"/>
                <a:gd name="connsiteY0" fmla="*/ 960489 h 990710"/>
                <a:gd name="connsiteX1" fmla="*/ 413798 w 423952"/>
                <a:gd name="connsiteY1" fmla="*/ 964577 h 990710"/>
                <a:gd name="connsiteX2" fmla="*/ 413798 w 423952"/>
                <a:gd name="connsiteY2" fmla="*/ 990710 h 990710"/>
                <a:gd name="connsiteX3" fmla="*/ 185496 w 423952"/>
                <a:gd name="connsiteY3" fmla="*/ 436778 h 990710"/>
                <a:gd name="connsiteX4" fmla="*/ 348216 w 423952"/>
                <a:gd name="connsiteY4" fmla="*/ 498244 h 990710"/>
                <a:gd name="connsiteX5" fmla="*/ 423952 w 423952"/>
                <a:gd name="connsiteY5" fmla="*/ 673587 h 990710"/>
                <a:gd name="connsiteX6" fmla="*/ 370444 w 423952"/>
                <a:gd name="connsiteY6" fmla="*/ 810788 h 990710"/>
                <a:gd name="connsiteX7" fmla="*/ 309731 w 423952"/>
                <a:gd name="connsiteY7" fmla="*/ 851330 h 990710"/>
                <a:gd name="connsiteX8" fmla="*/ 279803 w 423952"/>
                <a:gd name="connsiteY8" fmla="*/ 856715 h 990710"/>
                <a:gd name="connsiteX9" fmla="*/ 207238 w 423952"/>
                <a:gd name="connsiteY9" fmla="*/ 784150 h 990710"/>
                <a:gd name="connsiteX10" fmla="*/ 230772 w 423952"/>
                <a:gd name="connsiteY10" fmla="*/ 788561 h 990710"/>
                <a:gd name="connsiteX11" fmla="*/ 319130 w 423952"/>
                <a:gd name="connsiteY11" fmla="*/ 756045 h 990710"/>
                <a:gd name="connsiteX12" fmla="*/ 352332 w 423952"/>
                <a:gd name="connsiteY12" fmla="*/ 670843 h 990710"/>
                <a:gd name="connsiteX13" fmla="*/ 331340 w 423952"/>
                <a:gd name="connsiteY13" fmla="*/ 591678 h 990710"/>
                <a:gd name="connsiteX14" fmla="*/ 270972 w 423952"/>
                <a:gd name="connsiteY14" fmla="*/ 533916 h 990710"/>
                <a:gd name="connsiteX15" fmla="*/ 189612 w 423952"/>
                <a:gd name="connsiteY15" fmla="*/ 511964 h 990710"/>
                <a:gd name="connsiteX16" fmla="*/ 105370 w 423952"/>
                <a:gd name="connsiteY16" fmla="*/ 542423 h 990710"/>
                <a:gd name="connsiteX17" fmla="*/ 70796 w 423952"/>
                <a:gd name="connsiteY17" fmla="*/ 629957 h 990710"/>
                <a:gd name="connsiteX18" fmla="*/ 74979 w 423952"/>
                <a:gd name="connsiteY18" fmla="*/ 651890 h 990710"/>
                <a:gd name="connsiteX19" fmla="*/ 6918 w 423952"/>
                <a:gd name="connsiteY19" fmla="*/ 583830 h 990710"/>
                <a:gd name="connsiteX20" fmla="*/ 12760 w 423952"/>
                <a:gd name="connsiteY20" fmla="*/ 548356 h 990710"/>
                <a:gd name="connsiteX21" fmla="*/ 51040 w 423952"/>
                <a:gd name="connsiteY21" fmla="*/ 488228 h 990710"/>
                <a:gd name="connsiteX22" fmla="*/ 185496 w 423952"/>
                <a:gd name="connsiteY22" fmla="*/ 436778 h 990710"/>
                <a:gd name="connsiteX23" fmla="*/ 196472 w 423952"/>
                <a:gd name="connsiteY23" fmla="*/ 0 h 990710"/>
                <a:gd name="connsiteX24" fmla="*/ 308566 w 423952"/>
                <a:gd name="connsiteY24" fmla="*/ 31968 h 990710"/>
                <a:gd name="connsiteX25" fmla="*/ 393082 w 423952"/>
                <a:gd name="connsiteY25" fmla="*/ 118542 h 990710"/>
                <a:gd name="connsiteX26" fmla="*/ 423952 w 423952"/>
                <a:gd name="connsiteY26" fmla="*/ 237632 h 990710"/>
                <a:gd name="connsiteX27" fmla="*/ 361534 w 423952"/>
                <a:gd name="connsiteY27" fmla="*/ 394316 h 990710"/>
                <a:gd name="connsiteX28" fmla="*/ 310392 w 423952"/>
                <a:gd name="connsiteY28" fmla="*/ 339161 h 990710"/>
                <a:gd name="connsiteX29" fmla="*/ 342054 w 423952"/>
                <a:gd name="connsiteY29" fmla="*/ 295531 h 990710"/>
                <a:gd name="connsiteX30" fmla="*/ 353156 w 423952"/>
                <a:gd name="connsiteY30" fmla="*/ 239553 h 990710"/>
                <a:gd name="connsiteX31" fmla="*/ 331500 w 423952"/>
                <a:gd name="connsiteY31" fmla="*/ 158604 h 990710"/>
                <a:gd name="connsiteX32" fmla="*/ 274206 w 423952"/>
                <a:gd name="connsiteY32" fmla="*/ 98373 h 990710"/>
                <a:gd name="connsiteX33" fmla="*/ 198268 w 423952"/>
                <a:gd name="connsiteY33" fmla="*/ 76833 h 990710"/>
                <a:gd name="connsiteX34" fmla="*/ 107120 w 423952"/>
                <a:gd name="connsiteY34" fmla="*/ 114700 h 990710"/>
                <a:gd name="connsiteX35" fmla="*/ 70796 w 423952"/>
                <a:gd name="connsiteY35" fmla="*/ 211838 h 990710"/>
                <a:gd name="connsiteX36" fmla="*/ 107566 w 423952"/>
                <a:gd name="connsiteY36" fmla="*/ 321599 h 990710"/>
                <a:gd name="connsiteX37" fmla="*/ 48570 w 423952"/>
                <a:gd name="connsiteY37" fmla="*/ 366327 h 990710"/>
                <a:gd name="connsiteX38" fmla="*/ 0 w 423952"/>
                <a:gd name="connsiteY38" fmla="*/ 206899 h 990710"/>
                <a:gd name="connsiteX39" fmla="*/ 24148 w 423952"/>
                <a:gd name="connsiteY39" fmla="*/ 98648 h 990710"/>
                <a:gd name="connsiteX40" fmla="*/ 95080 w 423952"/>
                <a:gd name="connsiteY40" fmla="*/ 27029 h 990710"/>
                <a:gd name="connsiteX41" fmla="*/ 196472 w 423952"/>
                <a:gd name="connsiteY41" fmla="*/ 0 h 990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423952" h="990710">
                  <a:moveTo>
                    <a:pt x="383577" y="960489"/>
                  </a:moveTo>
                  <a:lnTo>
                    <a:pt x="413798" y="964577"/>
                  </a:lnTo>
                  <a:lnTo>
                    <a:pt x="413798" y="990710"/>
                  </a:lnTo>
                  <a:close/>
                  <a:moveTo>
                    <a:pt x="185496" y="436778"/>
                  </a:moveTo>
                  <a:cubicBezTo>
                    <a:pt x="248608" y="436778"/>
                    <a:pt x="302848" y="457267"/>
                    <a:pt x="348216" y="498244"/>
                  </a:cubicBezTo>
                  <a:cubicBezTo>
                    <a:pt x="398706" y="543978"/>
                    <a:pt x="423952" y="602425"/>
                    <a:pt x="423952" y="673587"/>
                  </a:cubicBezTo>
                  <a:cubicBezTo>
                    <a:pt x="423952" y="729016"/>
                    <a:pt x="406116" y="774750"/>
                    <a:pt x="370444" y="810788"/>
                  </a:cubicBezTo>
                  <a:cubicBezTo>
                    <a:pt x="352607" y="828807"/>
                    <a:pt x="332370" y="842321"/>
                    <a:pt x="309731" y="851330"/>
                  </a:cubicBezTo>
                  <a:lnTo>
                    <a:pt x="279803" y="856715"/>
                  </a:lnTo>
                  <a:lnTo>
                    <a:pt x="207238" y="784150"/>
                  </a:lnTo>
                  <a:lnTo>
                    <a:pt x="230772" y="788561"/>
                  </a:lnTo>
                  <a:cubicBezTo>
                    <a:pt x="267542" y="788561"/>
                    <a:pt x="296994" y="777722"/>
                    <a:pt x="319130" y="756045"/>
                  </a:cubicBezTo>
                  <a:cubicBezTo>
                    <a:pt x="341266" y="734367"/>
                    <a:pt x="352332" y="705966"/>
                    <a:pt x="352332" y="670843"/>
                  </a:cubicBezTo>
                  <a:cubicBezTo>
                    <a:pt x="352332" y="641939"/>
                    <a:pt x="345336" y="615551"/>
                    <a:pt x="331340" y="591678"/>
                  </a:cubicBezTo>
                  <a:cubicBezTo>
                    <a:pt x="317346" y="567805"/>
                    <a:pt x="297224" y="548551"/>
                    <a:pt x="270972" y="533916"/>
                  </a:cubicBezTo>
                  <a:cubicBezTo>
                    <a:pt x="244722" y="519282"/>
                    <a:pt x="217602" y="511964"/>
                    <a:pt x="189612" y="511964"/>
                  </a:cubicBezTo>
                  <a:cubicBezTo>
                    <a:pt x="156502" y="511964"/>
                    <a:pt x="128420" y="522117"/>
                    <a:pt x="105370" y="542423"/>
                  </a:cubicBezTo>
                  <a:cubicBezTo>
                    <a:pt x="82322" y="562729"/>
                    <a:pt x="70796" y="591907"/>
                    <a:pt x="70796" y="629957"/>
                  </a:cubicBezTo>
                  <a:lnTo>
                    <a:pt x="74979" y="651890"/>
                  </a:lnTo>
                  <a:lnTo>
                    <a:pt x="6918" y="583830"/>
                  </a:lnTo>
                  <a:lnTo>
                    <a:pt x="12760" y="548356"/>
                  </a:lnTo>
                  <a:cubicBezTo>
                    <a:pt x="21267" y="525421"/>
                    <a:pt x="34027" y="505378"/>
                    <a:pt x="51040" y="488228"/>
                  </a:cubicBezTo>
                  <a:cubicBezTo>
                    <a:pt x="85066" y="453928"/>
                    <a:pt x="129884" y="436778"/>
                    <a:pt x="185496" y="436778"/>
                  </a:cubicBezTo>
                  <a:close/>
                  <a:moveTo>
                    <a:pt x="196472" y="0"/>
                  </a:moveTo>
                  <a:cubicBezTo>
                    <a:pt x="235438" y="0"/>
                    <a:pt x="272802" y="10656"/>
                    <a:pt x="308566" y="31968"/>
                  </a:cubicBezTo>
                  <a:cubicBezTo>
                    <a:pt x="344330" y="53280"/>
                    <a:pt x="372502" y="82138"/>
                    <a:pt x="393082" y="118542"/>
                  </a:cubicBezTo>
                  <a:cubicBezTo>
                    <a:pt x="413662" y="154946"/>
                    <a:pt x="423952" y="194642"/>
                    <a:pt x="423952" y="237632"/>
                  </a:cubicBezTo>
                  <a:cubicBezTo>
                    <a:pt x="423952" y="298001"/>
                    <a:pt x="403146" y="350228"/>
                    <a:pt x="361534" y="394316"/>
                  </a:cubicBezTo>
                  <a:lnTo>
                    <a:pt x="310392" y="339161"/>
                  </a:lnTo>
                  <a:cubicBezTo>
                    <a:pt x="324098" y="327270"/>
                    <a:pt x="334652" y="312727"/>
                    <a:pt x="342054" y="295531"/>
                  </a:cubicBezTo>
                  <a:cubicBezTo>
                    <a:pt x="349456" y="278335"/>
                    <a:pt x="353156" y="259676"/>
                    <a:pt x="353156" y="239553"/>
                  </a:cubicBezTo>
                  <a:cubicBezTo>
                    <a:pt x="353156" y="211381"/>
                    <a:pt x="345938" y="184398"/>
                    <a:pt x="331500" y="158604"/>
                  </a:cubicBezTo>
                  <a:cubicBezTo>
                    <a:pt x="317062" y="132811"/>
                    <a:pt x="297964" y="112733"/>
                    <a:pt x="274206" y="98373"/>
                  </a:cubicBezTo>
                  <a:cubicBezTo>
                    <a:pt x="250446" y="84013"/>
                    <a:pt x="225134" y="76833"/>
                    <a:pt x="198268" y="76833"/>
                  </a:cubicBezTo>
                  <a:cubicBezTo>
                    <a:pt x="161720" y="76833"/>
                    <a:pt x="131336" y="89455"/>
                    <a:pt x="107120" y="114700"/>
                  </a:cubicBezTo>
                  <a:cubicBezTo>
                    <a:pt x="82904" y="139945"/>
                    <a:pt x="70796" y="172324"/>
                    <a:pt x="70796" y="211838"/>
                  </a:cubicBezTo>
                  <a:cubicBezTo>
                    <a:pt x="70796" y="254096"/>
                    <a:pt x="83052" y="290683"/>
                    <a:pt x="107566" y="321599"/>
                  </a:cubicBezTo>
                  <a:lnTo>
                    <a:pt x="48570" y="366327"/>
                  </a:lnTo>
                  <a:cubicBezTo>
                    <a:pt x="16190" y="320410"/>
                    <a:pt x="0" y="267267"/>
                    <a:pt x="0" y="206899"/>
                  </a:cubicBezTo>
                  <a:cubicBezTo>
                    <a:pt x="0" y="164458"/>
                    <a:pt x="8050" y="128374"/>
                    <a:pt x="24148" y="98648"/>
                  </a:cubicBezTo>
                  <a:cubicBezTo>
                    <a:pt x="40246" y="68921"/>
                    <a:pt x="63890" y="45048"/>
                    <a:pt x="95080" y="27029"/>
                  </a:cubicBezTo>
                  <a:cubicBezTo>
                    <a:pt x="126272" y="9010"/>
                    <a:pt x="160068" y="0"/>
                    <a:pt x="196472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/>
              <a:endParaRPr lang="zh-CN" altLang="en-US" sz="1800">
                <a:solidFill>
                  <a:prstClr val="white"/>
                </a:solidFill>
                <a:latin typeface="Arial"/>
                <a:ea typeface="微软雅黑"/>
              </a:endParaRPr>
            </a:p>
          </p:txBody>
        </p:sp>
      </p:grpSp>
      <p:pic>
        <p:nvPicPr>
          <p:cNvPr id="12" name="图片占位符 18">
            <a:extLst>
              <a:ext uri="{FF2B5EF4-FFF2-40B4-BE49-F238E27FC236}">
                <a16:creationId xmlns:a16="http://schemas.microsoft.com/office/drawing/2014/main" id="{E8A1042A-1F01-451C-8E5A-4F5CC1C2AF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250" r="31250"/>
          <a:stretch>
            <a:fillRect/>
          </a:stretch>
        </p:blipFill>
        <p:spPr>
          <a:xfrm>
            <a:off x="203202" y="763642"/>
            <a:ext cx="2868559" cy="5737121"/>
          </a:xfrm>
          <a:prstGeom prst="rect">
            <a:avLst/>
          </a:prstGeom>
        </p:spPr>
      </p:pic>
      <p:sp>
        <p:nvSpPr>
          <p:cNvPr id="13" name="內容版面配置區 23">
            <a:extLst>
              <a:ext uri="{FF2B5EF4-FFF2-40B4-BE49-F238E27FC236}">
                <a16:creationId xmlns:a16="http://schemas.microsoft.com/office/drawing/2014/main" id="{AB9461FB-EAEE-42BB-B4F0-0E1CC886EC6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20927" y="2152591"/>
            <a:ext cx="5090512" cy="795379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2667"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14" name="內容版面配置區 23">
            <a:extLst>
              <a:ext uri="{FF2B5EF4-FFF2-40B4-BE49-F238E27FC236}">
                <a16:creationId xmlns:a16="http://schemas.microsoft.com/office/drawing/2014/main" id="{C474C07A-44D9-4BCE-9836-D59A7C563DC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920927" y="2964597"/>
            <a:ext cx="5090512" cy="795379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2667"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15" name="內容版面配置區 23">
            <a:extLst>
              <a:ext uri="{FF2B5EF4-FFF2-40B4-BE49-F238E27FC236}">
                <a16:creationId xmlns:a16="http://schemas.microsoft.com/office/drawing/2014/main" id="{36F4B826-5A88-4A66-A3E6-52D06F3F6499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922255" y="3790780"/>
            <a:ext cx="5090512" cy="795379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2667"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16" name="內容版面配置區 23">
            <a:extLst>
              <a:ext uri="{FF2B5EF4-FFF2-40B4-BE49-F238E27FC236}">
                <a16:creationId xmlns:a16="http://schemas.microsoft.com/office/drawing/2014/main" id="{8BC6369A-CD7C-4B0F-9B68-812E8D40950C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920927" y="4619324"/>
            <a:ext cx="5090512" cy="795379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2667"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pic>
        <p:nvPicPr>
          <p:cNvPr id="17" name="圖片 16" descr="一張含有 文字, 美工圖案 的圖片&#10;&#10;自動產生的描述">
            <a:extLst>
              <a:ext uri="{FF2B5EF4-FFF2-40B4-BE49-F238E27FC236}">
                <a16:creationId xmlns:a16="http://schemas.microsoft.com/office/drawing/2014/main" id="{117FCD0B-C5B8-41BD-9B9A-8DA691C07FD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0232" y="5799844"/>
            <a:ext cx="2011092" cy="854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757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组合 18">
            <a:extLst>
              <a:ext uri="{FF2B5EF4-FFF2-40B4-BE49-F238E27FC236}">
                <a16:creationId xmlns:a16="http://schemas.microsoft.com/office/drawing/2014/main" id="{819DFFE6-002B-4C62-B71C-892D897AC9C4}"/>
              </a:ext>
            </a:extLst>
          </p:cNvPr>
          <p:cNvGrpSpPr/>
          <p:nvPr userDrawn="1"/>
        </p:nvGrpSpPr>
        <p:grpSpPr>
          <a:xfrm>
            <a:off x="4077198" y="1754083"/>
            <a:ext cx="4070551" cy="4070552"/>
            <a:chOff x="4060725" y="1754087"/>
            <a:chExt cx="4070550" cy="4070552"/>
          </a:xfrm>
        </p:grpSpPr>
        <p:sp>
          <p:nvSpPr>
            <p:cNvPr id="37" name="菱形 36">
              <a:extLst>
                <a:ext uri="{FF2B5EF4-FFF2-40B4-BE49-F238E27FC236}">
                  <a16:creationId xmlns:a16="http://schemas.microsoft.com/office/drawing/2014/main" id="{1BD25681-823E-45D9-A340-1B0446FAB714}"/>
                </a:ext>
              </a:extLst>
            </p:cNvPr>
            <p:cNvSpPr/>
            <p:nvPr/>
          </p:nvSpPr>
          <p:spPr>
            <a:xfrm>
              <a:off x="4060725" y="1754087"/>
              <a:ext cx="4070550" cy="4070552"/>
            </a:xfrm>
            <a:prstGeom prst="diamond">
              <a:avLst/>
            </a:prstGeom>
            <a:noFill/>
            <a:ln w="76200">
              <a:solidFill>
                <a:srgbClr val="BF181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/>
              <a:endParaRPr lang="zh-CN" altLang="en-US" sz="1800">
                <a:solidFill>
                  <a:prstClr val="white"/>
                </a:solidFill>
                <a:latin typeface="Arial"/>
                <a:ea typeface="微软雅黑"/>
              </a:endParaRPr>
            </a:p>
          </p:txBody>
        </p:sp>
        <p:sp>
          <p:nvSpPr>
            <p:cNvPr id="38" name="椭圆 49">
              <a:extLst>
                <a:ext uri="{FF2B5EF4-FFF2-40B4-BE49-F238E27FC236}">
                  <a16:creationId xmlns:a16="http://schemas.microsoft.com/office/drawing/2014/main" id="{3F4F5BF4-7B9D-4230-A071-8B6C9E1C4D70}"/>
                </a:ext>
              </a:extLst>
            </p:cNvPr>
            <p:cNvSpPr/>
            <p:nvPr/>
          </p:nvSpPr>
          <p:spPr>
            <a:xfrm>
              <a:off x="5923834" y="4860131"/>
              <a:ext cx="344328" cy="343724"/>
            </a:xfrm>
            <a:custGeom>
              <a:avLst/>
              <a:gdLst>
                <a:gd name="connsiteX0" fmla="*/ 320385 w 604110"/>
                <a:gd name="connsiteY0" fmla="*/ 164550 h 603052"/>
                <a:gd name="connsiteX1" fmla="*/ 339813 w 604110"/>
                <a:gd name="connsiteY1" fmla="*/ 172569 h 603052"/>
                <a:gd name="connsiteX2" fmla="*/ 449654 w 604110"/>
                <a:gd name="connsiteY2" fmla="*/ 282231 h 603052"/>
                <a:gd name="connsiteX3" fmla="*/ 457617 w 604110"/>
                <a:gd name="connsiteY3" fmla="*/ 301558 h 603052"/>
                <a:gd name="connsiteX4" fmla="*/ 449654 w 604110"/>
                <a:gd name="connsiteY4" fmla="*/ 320886 h 603052"/>
                <a:gd name="connsiteX5" fmla="*/ 339813 w 604110"/>
                <a:gd name="connsiteY5" fmla="*/ 430548 h 603052"/>
                <a:gd name="connsiteX6" fmla="*/ 320316 w 604110"/>
                <a:gd name="connsiteY6" fmla="*/ 438635 h 603052"/>
                <a:gd name="connsiteX7" fmla="*/ 300957 w 604110"/>
                <a:gd name="connsiteY7" fmla="*/ 430548 h 603052"/>
                <a:gd name="connsiteX8" fmla="*/ 300957 w 604110"/>
                <a:gd name="connsiteY8" fmla="*/ 391892 h 603052"/>
                <a:gd name="connsiteX9" fmla="*/ 363841 w 604110"/>
                <a:gd name="connsiteY9" fmla="*/ 328974 h 603052"/>
                <a:gd name="connsiteX10" fmla="*/ 173954 w 604110"/>
                <a:gd name="connsiteY10" fmla="*/ 328974 h 603052"/>
                <a:gd name="connsiteX11" fmla="*/ 146494 w 604110"/>
                <a:gd name="connsiteY11" fmla="*/ 301558 h 603052"/>
                <a:gd name="connsiteX12" fmla="*/ 173954 w 604110"/>
                <a:gd name="connsiteY12" fmla="*/ 274143 h 603052"/>
                <a:gd name="connsiteX13" fmla="*/ 363978 w 604110"/>
                <a:gd name="connsiteY13" fmla="*/ 274143 h 603052"/>
                <a:gd name="connsiteX14" fmla="*/ 300957 w 604110"/>
                <a:gd name="connsiteY14" fmla="*/ 211225 h 603052"/>
                <a:gd name="connsiteX15" fmla="*/ 300957 w 604110"/>
                <a:gd name="connsiteY15" fmla="*/ 172569 h 603052"/>
                <a:gd name="connsiteX16" fmla="*/ 320385 w 604110"/>
                <a:gd name="connsiteY16" fmla="*/ 164550 h 603052"/>
                <a:gd name="connsiteX17" fmla="*/ 302055 w 604110"/>
                <a:gd name="connsiteY17" fmla="*/ 54823 h 603052"/>
                <a:gd name="connsiteX18" fmla="*/ 54919 w 604110"/>
                <a:gd name="connsiteY18" fmla="*/ 301526 h 603052"/>
                <a:gd name="connsiteX19" fmla="*/ 302055 w 604110"/>
                <a:gd name="connsiteY19" fmla="*/ 548229 h 603052"/>
                <a:gd name="connsiteX20" fmla="*/ 549191 w 604110"/>
                <a:gd name="connsiteY20" fmla="*/ 301526 h 603052"/>
                <a:gd name="connsiteX21" fmla="*/ 302055 w 604110"/>
                <a:gd name="connsiteY21" fmla="*/ 54823 h 603052"/>
                <a:gd name="connsiteX22" fmla="*/ 302055 w 604110"/>
                <a:gd name="connsiteY22" fmla="*/ 0 h 603052"/>
                <a:gd name="connsiteX23" fmla="*/ 604110 w 604110"/>
                <a:gd name="connsiteY23" fmla="*/ 301526 h 603052"/>
                <a:gd name="connsiteX24" fmla="*/ 302055 w 604110"/>
                <a:gd name="connsiteY24" fmla="*/ 603052 h 603052"/>
                <a:gd name="connsiteX25" fmla="*/ 0 w 604110"/>
                <a:gd name="connsiteY25" fmla="*/ 301526 h 603052"/>
                <a:gd name="connsiteX26" fmla="*/ 302055 w 604110"/>
                <a:gd name="connsiteY26" fmla="*/ 0 h 603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604110" h="603052">
                  <a:moveTo>
                    <a:pt x="320385" y="164550"/>
                  </a:moveTo>
                  <a:cubicBezTo>
                    <a:pt x="327422" y="164550"/>
                    <a:pt x="334458" y="167223"/>
                    <a:pt x="339813" y="172569"/>
                  </a:cubicBezTo>
                  <a:lnTo>
                    <a:pt x="449654" y="282231"/>
                  </a:lnTo>
                  <a:cubicBezTo>
                    <a:pt x="454734" y="287302"/>
                    <a:pt x="457617" y="294293"/>
                    <a:pt x="457617" y="301558"/>
                  </a:cubicBezTo>
                  <a:cubicBezTo>
                    <a:pt x="457617" y="308824"/>
                    <a:pt x="454734" y="315814"/>
                    <a:pt x="449654" y="320886"/>
                  </a:cubicBezTo>
                  <a:lnTo>
                    <a:pt x="339813" y="430548"/>
                  </a:lnTo>
                  <a:cubicBezTo>
                    <a:pt x="334458" y="436031"/>
                    <a:pt x="327319" y="438635"/>
                    <a:pt x="320316" y="438635"/>
                  </a:cubicBezTo>
                  <a:cubicBezTo>
                    <a:pt x="313314" y="438635"/>
                    <a:pt x="306312" y="436031"/>
                    <a:pt x="300957" y="430548"/>
                  </a:cubicBezTo>
                  <a:cubicBezTo>
                    <a:pt x="290248" y="419856"/>
                    <a:pt x="290248" y="402584"/>
                    <a:pt x="300957" y="391892"/>
                  </a:cubicBezTo>
                  <a:lnTo>
                    <a:pt x="363841" y="328974"/>
                  </a:lnTo>
                  <a:lnTo>
                    <a:pt x="173954" y="328974"/>
                  </a:lnTo>
                  <a:cubicBezTo>
                    <a:pt x="158714" y="328974"/>
                    <a:pt x="146494" y="316774"/>
                    <a:pt x="146494" y="301558"/>
                  </a:cubicBezTo>
                  <a:cubicBezTo>
                    <a:pt x="146494" y="286480"/>
                    <a:pt x="158714" y="274143"/>
                    <a:pt x="173954" y="274143"/>
                  </a:cubicBezTo>
                  <a:lnTo>
                    <a:pt x="363978" y="274143"/>
                  </a:lnTo>
                  <a:lnTo>
                    <a:pt x="300957" y="211225"/>
                  </a:lnTo>
                  <a:cubicBezTo>
                    <a:pt x="290248" y="200533"/>
                    <a:pt x="290248" y="183261"/>
                    <a:pt x="300957" y="172569"/>
                  </a:cubicBezTo>
                  <a:cubicBezTo>
                    <a:pt x="306312" y="167223"/>
                    <a:pt x="313349" y="164550"/>
                    <a:pt x="320385" y="164550"/>
                  </a:cubicBezTo>
                  <a:close/>
                  <a:moveTo>
                    <a:pt x="302055" y="54823"/>
                  </a:moveTo>
                  <a:cubicBezTo>
                    <a:pt x="165718" y="54823"/>
                    <a:pt x="54919" y="165428"/>
                    <a:pt x="54919" y="301526"/>
                  </a:cubicBezTo>
                  <a:cubicBezTo>
                    <a:pt x="54919" y="437624"/>
                    <a:pt x="165718" y="548229"/>
                    <a:pt x="302055" y="548229"/>
                  </a:cubicBezTo>
                  <a:cubicBezTo>
                    <a:pt x="438392" y="548229"/>
                    <a:pt x="549191" y="437624"/>
                    <a:pt x="549191" y="301526"/>
                  </a:cubicBezTo>
                  <a:cubicBezTo>
                    <a:pt x="549191" y="165428"/>
                    <a:pt x="438392" y="54823"/>
                    <a:pt x="302055" y="54823"/>
                  </a:cubicBezTo>
                  <a:close/>
                  <a:moveTo>
                    <a:pt x="302055" y="0"/>
                  </a:moveTo>
                  <a:cubicBezTo>
                    <a:pt x="468597" y="0"/>
                    <a:pt x="604110" y="135275"/>
                    <a:pt x="604110" y="301526"/>
                  </a:cubicBezTo>
                  <a:cubicBezTo>
                    <a:pt x="604110" y="467777"/>
                    <a:pt x="468597" y="603052"/>
                    <a:pt x="302055" y="603052"/>
                  </a:cubicBezTo>
                  <a:cubicBezTo>
                    <a:pt x="135513" y="603052"/>
                    <a:pt x="0" y="467777"/>
                    <a:pt x="0" y="301526"/>
                  </a:cubicBezTo>
                  <a:cubicBezTo>
                    <a:pt x="0" y="135275"/>
                    <a:pt x="135513" y="0"/>
                    <a:pt x="302055" y="0"/>
                  </a:cubicBezTo>
                  <a:close/>
                </a:path>
              </a:pathLst>
            </a:custGeom>
            <a:solidFill>
              <a:srgbClr val="BF181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377"/>
              <a:endParaRPr lang="zh-CN" altLang="en-US" sz="1800">
                <a:solidFill>
                  <a:prstClr val="white"/>
                </a:solidFill>
                <a:latin typeface="Arial"/>
                <a:ea typeface="微软雅黑"/>
              </a:endParaRPr>
            </a:p>
          </p:txBody>
        </p:sp>
      </p:grpSp>
      <p:pic>
        <p:nvPicPr>
          <p:cNvPr id="39" name="图片占位符 17">
            <a:extLst>
              <a:ext uri="{FF2B5EF4-FFF2-40B4-BE49-F238E27FC236}">
                <a16:creationId xmlns:a16="http://schemas.microsoft.com/office/drawing/2014/main" id="{13E67AB8-B2C5-4C16-899E-3761E1789EC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9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6667" b="16667"/>
          <a:stretch>
            <a:fillRect/>
          </a:stretch>
        </p:blipFill>
        <p:spPr>
          <a:xfrm>
            <a:off x="2897279" y="-5"/>
            <a:ext cx="6430391" cy="3214279"/>
          </a:xfrm>
          <a:custGeom>
            <a:avLst/>
            <a:gdLst>
              <a:gd name="connsiteX0" fmla="*/ 4011555 w 6430391"/>
              <a:gd name="connsiteY0" fmla="*/ 1 h 3214278"/>
              <a:gd name="connsiteX1" fmla="*/ 6430391 w 6430391"/>
              <a:gd name="connsiteY1" fmla="*/ 1 h 3214278"/>
              <a:gd name="connsiteX2" fmla="*/ 5220973 w 6430391"/>
              <a:gd name="connsiteY2" fmla="*/ 1209420 h 3214278"/>
              <a:gd name="connsiteX3" fmla="*/ 0 w 6430391"/>
              <a:gd name="connsiteY3" fmla="*/ 1 h 3214278"/>
              <a:gd name="connsiteX4" fmla="*/ 2418837 w 6430391"/>
              <a:gd name="connsiteY4" fmla="*/ 1 h 3214278"/>
              <a:gd name="connsiteX5" fmla="*/ 1209418 w 6430391"/>
              <a:gd name="connsiteY5" fmla="*/ 1209420 h 3214278"/>
              <a:gd name="connsiteX6" fmla="*/ 2594894 w 6430391"/>
              <a:gd name="connsiteY6" fmla="*/ 0 h 3214278"/>
              <a:gd name="connsiteX7" fmla="*/ 3835497 w 6430391"/>
              <a:gd name="connsiteY7" fmla="*/ 0 h 3214278"/>
              <a:gd name="connsiteX8" fmla="*/ 5132484 w 6430391"/>
              <a:gd name="connsiteY8" fmla="*/ 1296988 h 3214278"/>
              <a:gd name="connsiteX9" fmla="*/ 3215195 w 6430391"/>
              <a:gd name="connsiteY9" fmla="*/ 3214278 h 3214278"/>
              <a:gd name="connsiteX10" fmla="*/ 1297906 w 6430391"/>
              <a:gd name="connsiteY10" fmla="*/ 1296988 h 32142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430391" h="3214278">
                <a:moveTo>
                  <a:pt x="4011555" y="1"/>
                </a:moveTo>
                <a:lnTo>
                  <a:pt x="6430391" y="1"/>
                </a:lnTo>
                <a:lnTo>
                  <a:pt x="5220973" y="1209420"/>
                </a:lnTo>
                <a:close/>
                <a:moveTo>
                  <a:pt x="0" y="1"/>
                </a:moveTo>
                <a:lnTo>
                  <a:pt x="2418837" y="1"/>
                </a:lnTo>
                <a:lnTo>
                  <a:pt x="1209418" y="1209420"/>
                </a:lnTo>
                <a:close/>
                <a:moveTo>
                  <a:pt x="2594894" y="0"/>
                </a:moveTo>
                <a:lnTo>
                  <a:pt x="3835497" y="0"/>
                </a:lnTo>
                <a:lnTo>
                  <a:pt x="5132484" y="1296988"/>
                </a:lnTo>
                <a:lnTo>
                  <a:pt x="3215195" y="3214278"/>
                </a:lnTo>
                <a:lnTo>
                  <a:pt x="1297906" y="1296988"/>
                </a:lnTo>
                <a:close/>
              </a:path>
            </a:pathLst>
          </a:custGeom>
        </p:spPr>
      </p:pic>
      <p:sp>
        <p:nvSpPr>
          <p:cNvPr id="40" name="內容版面配置區 23">
            <a:extLst>
              <a:ext uri="{FF2B5EF4-FFF2-40B4-BE49-F238E27FC236}">
                <a16:creationId xmlns:a16="http://schemas.microsoft.com/office/drawing/2014/main" id="{03E79BBE-BF7D-4B32-8598-897E9A360B1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17021" y="3046274"/>
            <a:ext cx="2957958" cy="79537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4400" b="1">
                <a:latin typeface="Century Gothic" panose="020B0502020202020204" pitchFamily="34" charset="0"/>
                <a:ea typeface="微軟正黑體" panose="020B0604030504040204" pitchFamily="34" charset="-120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41" name="內容版面配置區 23">
            <a:extLst>
              <a:ext uri="{FF2B5EF4-FFF2-40B4-BE49-F238E27FC236}">
                <a16:creationId xmlns:a16="http://schemas.microsoft.com/office/drawing/2014/main" id="{1FEC6DFD-3F23-4926-BC95-8E43F81E4F5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146792" y="3881767"/>
            <a:ext cx="3898415" cy="795379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2400"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pic>
        <p:nvPicPr>
          <p:cNvPr id="42" name="圖片 41" descr="一張含有 文字, 美工圖案 的圖片&#10;&#10;自動產生的描述">
            <a:extLst>
              <a:ext uri="{FF2B5EF4-FFF2-40B4-BE49-F238E27FC236}">
                <a16:creationId xmlns:a16="http://schemas.microsoft.com/office/drawing/2014/main" id="{7922C155-CAF2-4520-89FB-AE5ECAA216B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8925" y="5824635"/>
            <a:ext cx="2011092" cy="854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2213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內容版面配置區 23">
            <a:extLst>
              <a:ext uri="{FF2B5EF4-FFF2-40B4-BE49-F238E27FC236}">
                <a16:creationId xmlns:a16="http://schemas.microsoft.com/office/drawing/2014/main" id="{993522B9-C280-4A77-8D6A-27B4E1F4B74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9868" y="1615795"/>
            <a:ext cx="10375233" cy="468464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3200"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zh-TW" altLang="en-US" dirty="0"/>
              <a:t>按一下以編輯母片文字樣式</a:t>
            </a:r>
            <a:endParaRPr lang="en-US" altLang="zh-TW" dirty="0"/>
          </a:p>
          <a:p>
            <a:pPr lvl="0"/>
            <a:endParaRPr lang="en-US" altLang="zh-TW" dirty="0"/>
          </a:p>
          <a:p>
            <a:pPr lvl="0"/>
            <a:endParaRPr lang="en-US" altLang="zh-TW" dirty="0"/>
          </a:p>
          <a:p>
            <a:pPr lvl="0"/>
            <a:endParaRPr lang="en-US" altLang="zh-TW" dirty="0"/>
          </a:p>
          <a:p>
            <a:pPr lvl="0"/>
            <a:endParaRPr lang="en-US" altLang="zh-TW" dirty="0"/>
          </a:p>
          <a:p>
            <a:pPr lvl="0"/>
            <a:endParaRPr lang="en-US" altLang="zh-TW" dirty="0"/>
          </a:p>
          <a:p>
            <a:pPr lvl="0"/>
            <a:endParaRPr lang="en-US" altLang="zh-TW" dirty="0"/>
          </a:p>
          <a:p>
            <a:pPr lvl="0"/>
            <a:endParaRPr lang="zh-TW" altLang="en-US" dirty="0"/>
          </a:p>
        </p:txBody>
      </p:sp>
      <p:sp>
        <p:nvSpPr>
          <p:cNvPr id="23" name="任意多边形 20">
            <a:extLst>
              <a:ext uri="{FF2B5EF4-FFF2-40B4-BE49-F238E27FC236}">
                <a16:creationId xmlns:a16="http://schemas.microsoft.com/office/drawing/2014/main" id="{553179F2-C019-420E-9CCD-698016840EEC}"/>
              </a:ext>
            </a:extLst>
          </p:cNvPr>
          <p:cNvSpPr/>
          <p:nvPr userDrawn="1"/>
        </p:nvSpPr>
        <p:spPr>
          <a:xfrm>
            <a:off x="10362313" y="6619157"/>
            <a:ext cx="477684" cy="238843"/>
          </a:xfrm>
          <a:custGeom>
            <a:avLst/>
            <a:gdLst>
              <a:gd name="connsiteX0" fmla="*/ 238842 w 477684"/>
              <a:gd name="connsiteY0" fmla="*/ 0 h 238842"/>
              <a:gd name="connsiteX1" fmla="*/ 477684 w 477684"/>
              <a:gd name="connsiteY1" fmla="*/ 238842 h 238842"/>
              <a:gd name="connsiteX2" fmla="*/ 0 w 477684"/>
              <a:gd name="connsiteY2" fmla="*/ 238842 h 238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7684" h="238842">
                <a:moveTo>
                  <a:pt x="238842" y="0"/>
                </a:moveTo>
                <a:lnTo>
                  <a:pt x="477684" y="238842"/>
                </a:lnTo>
                <a:lnTo>
                  <a:pt x="0" y="238842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zh-CN" altLang="en-US" sz="1800">
              <a:solidFill>
                <a:prstClr val="white"/>
              </a:solidFill>
              <a:latin typeface="Arial"/>
              <a:ea typeface="微软雅黑"/>
            </a:endParaRPr>
          </a:p>
        </p:txBody>
      </p:sp>
      <p:sp>
        <p:nvSpPr>
          <p:cNvPr id="24" name="任意多边形 22">
            <a:extLst>
              <a:ext uri="{FF2B5EF4-FFF2-40B4-BE49-F238E27FC236}">
                <a16:creationId xmlns:a16="http://schemas.microsoft.com/office/drawing/2014/main" id="{4033A2C2-81B3-4FE5-837D-3E2D489268BC}"/>
              </a:ext>
            </a:extLst>
          </p:cNvPr>
          <p:cNvSpPr/>
          <p:nvPr userDrawn="1"/>
        </p:nvSpPr>
        <p:spPr>
          <a:xfrm>
            <a:off x="346589" y="1"/>
            <a:ext cx="2219633" cy="1109817"/>
          </a:xfrm>
          <a:custGeom>
            <a:avLst/>
            <a:gdLst>
              <a:gd name="connsiteX0" fmla="*/ 0 w 2219633"/>
              <a:gd name="connsiteY0" fmla="*/ 0 h 1109817"/>
              <a:gd name="connsiteX1" fmla="*/ 2219633 w 2219633"/>
              <a:gd name="connsiteY1" fmla="*/ 0 h 1109817"/>
              <a:gd name="connsiteX2" fmla="*/ 1109817 w 2219633"/>
              <a:gd name="connsiteY2" fmla="*/ 1109817 h 11098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219633" h="1109817">
                <a:moveTo>
                  <a:pt x="0" y="0"/>
                </a:moveTo>
                <a:lnTo>
                  <a:pt x="2219633" y="0"/>
                </a:lnTo>
                <a:lnTo>
                  <a:pt x="1109817" y="1109817"/>
                </a:lnTo>
                <a:close/>
              </a:path>
            </a:pathLst>
          </a:custGeom>
          <a:solidFill>
            <a:srgbClr val="BF18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zh-CN" altLang="en-US" sz="1800">
              <a:solidFill>
                <a:prstClr val="white"/>
              </a:solidFill>
              <a:latin typeface="Arial"/>
              <a:ea typeface="微软雅黑"/>
            </a:endParaRPr>
          </a:p>
        </p:txBody>
      </p:sp>
      <p:sp>
        <p:nvSpPr>
          <p:cNvPr id="25" name="任意多边形 26">
            <a:extLst>
              <a:ext uri="{FF2B5EF4-FFF2-40B4-BE49-F238E27FC236}">
                <a16:creationId xmlns:a16="http://schemas.microsoft.com/office/drawing/2014/main" id="{DC41E249-80A3-4234-ADC6-7866914D318C}"/>
              </a:ext>
            </a:extLst>
          </p:cNvPr>
          <p:cNvSpPr/>
          <p:nvPr userDrawn="1"/>
        </p:nvSpPr>
        <p:spPr>
          <a:xfrm>
            <a:off x="9560226" y="6346827"/>
            <a:ext cx="1022351" cy="511175"/>
          </a:xfrm>
          <a:custGeom>
            <a:avLst/>
            <a:gdLst>
              <a:gd name="connsiteX0" fmla="*/ 511175 w 1022350"/>
              <a:gd name="connsiteY0" fmla="*/ 0 h 511175"/>
              <a:gd name="connsiteX1" fmla="*/ 1022350 w 1022350"/>
              <a:gd name="connsiteY1" fmla="*/ 511175 h 511175"/>
              <a:gd name="connsiteX2" fmla="*/ 0 w 1022350"/>
              <a:gd name="connsiteY2" fmla="*/ 511175 h 511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22350" h="511175">
                <a:moveTo>
                  <a:pt x="511175" y="0"/>
                </a:moveTo>
                <a:lnTo>
                  <a:pt x="1022350" y="511175"/>
                </a:lnTo>
                <a:lnTo>
                  <a:pt x="0" y="511175"/>
                </a:lnTo>
                <a:close/>
              </a:path>
            </a:pathLst>
          </a:custGeom>
          <a:solidFill>
            <a:srgbClr val="BF18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zh-CN" altLang="en-US" sz="1800">
              <a:solidFill>
                <a:prstClr val="white"/>
              </a:solidFill>
              <a:latin typeface="Arial"/>
              <a:ea typeface="微软雅黑"/>
            </a:endParaRPr>
          </a:p>
        </p:txBody>
      </p:sp>
      <p:sp>
        <p:nvSpPr>
          <p:cNvPr id="27" name="椭圆 15">
            <a:extLst>
              <a:ext uri="{FF2B5EF4-FFF2-40B4-BE49-F238E27FC236}">
                <a16:creationId xmlns:a16="http://schemas.microsoft.com/office/drawing/2014/main" id="{BEBD887F-754F-4582-B1CA-F666421542FC}"/>
              </a:ext>
            </a:extLst>
          </p:cNvPr>
          <p:cNvSpPr/>
          <p:nvPr userDrawn="1"/>
        </p:nvSpPr>
        <p:spPr>
          <a:xfrm>
            <a:off x="1249938" y="286056"/>
            <a:ext cx="412932" cy="412323"/>
          </a:xfrm>
          <a:custGeom>
            <a:avLst/>
            <a:gdLst>
              <a:gd name="connsiteX0" fmla="*/ 414666 w 606487"/>
              <a:gd name="connsiteY0" fmla="*/ 244368 h 605592"/>
              <a:gd name="connsiteX1" fmla="*/ 440469 w 606487"/>
              <a:gd name="connsiteY1" fmla="*/ 270042 h 605592"/>
              <a:gd name="connsiteX2" fmla="*/ 440469 w 606487"/>
              <a:gd name="connsiteY2" fmla="*/ 381912 h 605592"/>
              <a:gd name="connsiteX3" fmla="*/ 414666 w 606487"/>
              <a:gd name="connsiteY3" fmla="*/ 407586 h 605592"/>
              <a:gd name="connsiteX4" fmla="*/ 388956 w 606487"/>
              <a:gd name="connsiteY4" fmla="*/ 381912 h 605592"/>
              <a:gd name="connsiteX5" fmla="*/ 388956 w 606487"/>
              <a:gd name="connsiteY5" fmla="*/ 270042 h 605592"/>
              <a:gd name="connsiteX6" fmla="*/ 414666 w 606487"/>
              <a:gd name="connsiteY6" fmla="*/ 244368 h 605592"/>
              <a:gd name="connsiteX7" fmla="*/ 302702 w 606487"/>
              <a:gd name="connsiteY7" fmla="*/ 167240 h 605592"/>
              <a:gd name="connsiteX8" fmla="*/ 328412 w 606487"/>
              <a:gd name="connsiteY8" fmla="*/ 192915 h 605592"/>
              <a:gd name="connsiteX9" fmla="*/ 328412 w 606487"/>
              <a:gd name="connsiteY9" fmla="*/ 381911 h 605592"/>
              <a:gd name="connsiteX10" fmla="*/ 302702 w 606487"/>
              <a:gd name="connsiteY10" fmla="*/ 407586 h 605592"/>
              <a:gd name="connsiteX11" fmla="*/ 276899 w 606487"/>
              <a:gd name="connsiteY11" fmla="*/ 381911 h 605592"/>
              <a:gd name="connsiteX12" fmla="*/ 276899 w 606487"/>
              <a:gd name="connsiteY12" fmla="*/ 192915 h 605592"/>
              <a:gd name="connsiteX13" fmla="*/ 302702 w 606487"/>
              <a:gd name="connsiteY13" fmla="*/ 167240 h 605592"/>
              <a:gd name="connsiteX14" fmla="*/ 190632 w 606487"/>
              <a:gd name="connsiteY14" fmla="*/ 107965 h 605592"/>
              <a:gd name="connsiteX15" fmla="*/ 216353 w 606487"/>
              <a:gd name="connsiteY15" fmla="*/ 133737 h 605592"/>
              <a:gd name="connsiteX16" fmla="*/ 216353 w 606487"/>
              <a:gd name="connsiteY16" fmla="*/ 381907 h 605592"/>
              <a:gd name="connsiteX17" fmla="*/ 190632 w 606487"/>
              <a:gd name="connsiteY17" fmla="*/ 407586 h 605592"/>
              <a:gd name="connsiteX18" fmla="*/ 164911 w 606487"/>
              <a:gd name="connsiteY18" fmla="*/ 381907 h 605592"/>
              <a:gd name="connsiteX19" fmla="*/ 164911 w 606487"/>
              <a:gd name="connsiteY19" fmla="*/ 133737 h 605592"/>
              <a:gd name="connsiteX20" fmla="*/ 190632 w 606487"/>
              <a:gd name="connsiteY20" fmla="*/ 107965 h 605592"/>
              <a:gd name="connsiteX21" fmla="*/ 86256 w 606487"/>
              <a:gd name="connsiteY21" fmla="*/ 51447 h 605592"/>
              <a:gd name="connsiteX22" fmla="*/ 86256 w 606487"/>
              <a:gd name="connsiteY22" fmla="*/ 464229 h 605592"/>
              <a:gd name="connsiteX23" fmla="*/ 517724 w 606487"/>
              <a:gd name="connsiteY23" fmla="*/ 464229 h 605592"/>
              <a:gd name="connsiteX24" fmla="*/ 517724 w 606487"/>
              <a:gd name="connsiteY24" fmla="*/ 51447 h 605592"/>
              <a:gd name="connsiteX25" fmla="*/ 25719 w 606487"/>
              <a:gd name="connsiteY25" fmla="*/ 0 h 605592"/>
              <a:gd name="connsiteX26" fmla="*/ 580861 w 606487"/>
              <a:gd name="connsiteY26" fmla="*/ 0 h 605592"/>
              <a:gd name="connsiteX27" fmla="*/ 606487 w 606487"/>
              <a:gd name="connsiteY27" fmla="*/ 25677 h 605592"/>
              <a:gd name="connsiteX28" fmla="*/ 579468 w 606487"/>
              <a:gd name="connsiteY28" fmla="*/ 51447 h 605592"/>
              <a:gd name="connsiteX29" fmla="*/ 569162 w 606487"/>
              <a:gd name="connsiteY29" fmla="*/ 51447 h 605592"/>
              <a:gd name="connsiteX30" fmla="*/ 569162 w 606487"/>
              <a:gd name="connsiteY30" fmla="*/ 488608 h 605592"/>
              <a:gd name="connsiteX31" fmla="*/ 543443 w 606487"/>
              <a:gd name="connsiteY31" fmla="*/ 514285 h 605592"/>
              <a:gd name="connsiteX32" fmla="*/ 476499 w 606487"/>
              <a:gd name="connsiteY32" fmla="*/ 514285 h 605592"/>
              <a:gd name="connsiteX33" fmla="*/ 476499 w 606487"/>
              <a:gd name="connsiteY33" fmla="*/ 579915 h 605592"/>
              <a:gd name="connsiteX34" fmla="*/ 450687 w 606487"/>
              <a:gd name="connsiteY34" fmla="*/ 605592 h 605592"/>
              <a:gd name="connsiteX35" fmla="*/ 424968 w 606487"/>
              <a:gd name="connsiteY35" fmla="*/ 579915 h 605592"/>
              <a:gd name="connsiteX36" fmla="*/ 424968 w 606487"/>
              <a:gd name="connsiteY36" fmla="*/ 514285 h 605592"/>
              <a:gd name="connsiteX37" fmla="*/ 180219 w 606487"/>
              <a:gd name="connsiteY37" fmla="*/ 514285 h 605592"/>
              <a:gd name="connsiteX38" fmla="*/ 180219 w 606487"/>
              <a:gd name="connsiteY38" fmla="*/ 579915 h 605592"/>
              <a:gd name="connsiteX39" fmla="*/ 154500 w 606487"/>
              <a:gd name="connsiteY39" fmla="*/ 605592 h 605592"/>
              <a:gd name="connsiteX40" fmla="*/ 128688 w 606487"/>
              <a:gd name="connsiteY40" fmla="*/ 579915 h 605592"/>
              <a:gd name="connsiteX41" fmla="*/ 128688 w 606487"/>
              <a:gd name="connsiteY41" fmla="*/ 514285 h 605592"/>
              <a:gd name="connsiteX42" fmla="*/ 61744 w 606487"/>
              <a:gd name="connsiteY42" fmla="*/ 514285 h 605592"/>
              <a:gd name="connsiteX43" fmla="*/ 36025 w 606487"/>
              <a:gd name="connsiteY43" fmla="*/ 488608 h 605592"/>
              <a:gd name="connsiteX44" fmla="*/ 36025 w 606487"/>
              <a:gd name="connsiteY44" fmla="*/ 51447 h 605592"/>
              <a:gd name="connsiteX45" fmla="*/ 25719 w 606487"/>
              <a:gd name="connsiteY45" fmla="*/ 51447 h 605592"/>
              <a:gd name="connsiteX46" fmla="*/ 0 w 606487"/>
              <a:gd name="connsiteY46" fmla="*/ 25677 h 605592"/>
              <a:gd name="connsiteX47" fmla="*/ 25719 w 606487"/>
              <a:gd name="connsiteY47" fmla="*/ 0 h 6055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606487" h="605592">
                <a:moveTo>
                  <a:pt x="414666" y="244368"/>
                </a:moveTo>
                <a:cubicBezTo>
                  <a:pt x="428774" y="244368"/>
                  <a:pt x="440469" y="255954"/>
                  <a:pt x="440469" y="270042"/>
                </a:cubicBezTo>
                <a:lnTo>
                  <a:pt x="440469" y="381912"/>
                </a:lnTo>
                <a:cubicBezTo>
                  <a:pt x="439170" y="396000"/>
                  <a:pt x="428774" y="407586"/>
                  <a:pt x="414666" y="407586"/>
                </a:cubicBezTo>
                <a:cubicBezTo>
                  <a:pt x="400465" y="407586"/>
                  <a:pt x="388956" y="396000"/>
                  <a:pt x="388956" y="381912"/>
                </a:cubicBezTo>
                <a:lnTo>
                  <a:pt x="388956" y="270042"/>
                </a:lnTo>
                <a:cubicBezTo>
                  <a:pt x="388956" y="255954"/>
                  <a:pt x="400558" y="244368"/>
                  <a:pt x="414666" y="244368"/>
                </a:cubicBezTo>
                <a:close/>
                <a:moveTo>
                  <a:pt x="302702" y="167240"/>
                </a:moveTo>
                <a:cubicBezTo>
                  <a:pt x="316810" y="167240"/>
                  <a:pt x="328412" y="178826"/>
                  <a:pt x="328412" y="192915"/>
                </a:cubicBezTo>
                <a:lnTo>
                  <a:pt x="328412" y="381911"/>
                </a:lnTo>
                <a:cubicBezTo>
                  <a:pt x="328412" y="396000"/>
                  <a:pt x="316810" y="407586"/>
                  <a:pt x="302702" y="407586"/>
                </a:cubicBezTo>
                <a:cubicBezTo>
                  <a:pt x="288408" y="407586"/>
                  <a:pt x="276899" y="396000"/>
                  <a:pt x="276899" y="381911"/>
                </a:cubicBezTo>
                <a:lnTo>
                  <a:pt x="276899" y="192915"/>
                </a:lnTo>
                <a:cubicBezTo>
                  <a:pt x="276899" y="178826"/>
                  <a:pt x="288594" y="167240"/>
                  <a:pt x="302702" y="167240"/>
                </a:cubicBezTo>
                <a:close/>
                <a:moveTo>
                  <a:pt x="190632" y="107965"/>
                </a:moveTo>
                <a:cubicBezTo>
                  <a:pt x="204746" y="107965"/>
                  <a:pt x="216353" y="119646"/>
                  <a:pt x="216353" y="133737"/>
                </a:cubicBezTo>
                <a:lnTo>
                  <a:pt x="216353" y="381907"/>
                </a:lnTo>
                <a:cubicBezTo>
                  <a:pt x="216353" y="395998"/>
                  <a:pt x="204746" y="407586"/>
                  <a:pt x="190632" y="407586"/>
                </a:cubicBezTo>
                <a:cubicBezTo>
                  <a:pt x="176425" y="407586"/>
                  <a:pt x="164911" y="395998"/>
                  <a:pt x="164911" y="381907"/>
                </a:cubicBezTo>
                <a:lnTo>
                  <a:pt x="164911" y="133737"/>
                </a:lnTo>
                <a:cubicBezTo>
                  <a:pt x="164911" y="119646"/>
                  <a:pt x="176518" y="107965"/>
                  <a:pt x="190632" y="107965"/>
                </a:cubicBezTo>
                <a:close/>
                <a:moveTo>
                  <a:pt x="86256" y="51447"/>
                </a:moveTo>
                <a:lnTo>
                  <a:pt x="86256" y="464229"/>
                </a:lnTo>
                <a:lnTo>
                  <a:pt x="517724" y="464229"/>
                </a:lnTo>
                <a:lnTo>
                  <a:pt x="517724" y="51447"/>
                </a:lnTo>
                <a:close/>
                <a:moveTo>
                  <a:pt x="25719" y="0"/>
                </a:moveTo>
                <a:lnTo>
                  <a:pt x="580861" y="0"/>
                </a:lnTo>
                <a:cubicBezTo>
                  <a:pt x="594974" y="0"/>
                  <a:pt x="606580" y="11587"/>
                  <a:pt x="606487" y="25677"/>
                </a:cubicBezTo>
                <a:cubicBezTo>
                  <a:pt x="606487" y="39767"/>
                  <a:pt x="593581" y="51447"/>
                  <a:pt x="579468" y="51447"/>
                </a:cubicBezTo>
                <a:lnTo>
                  <a:pt x="569162" y="51447"/>
                </a:lnTo>
                <a:lnTo>
                  <a:pt x="569162" y="488608"/>
                </a:lnTo>
                <a:cubicBezTo>
                  <a:pt x="569162" y="503996"/>
                  <a:pt x="557556" y="514285"/>
                  <a:pt x="543443" y="514285"/>
                </a:cubicBezTo>
                <a:lnTo>
                  <a:pt x="476499" y="514285"/>
                </a:lnTo>
                <a:lnTo>
                  <a:pt x="476499" y="579915"/>
                </a:lnTo>
                <a:cubicBezTo>
                  <a:pt x="476499" y="594005"/>
                  <a:pt x="464800" y="605592"/>
                  <a:pt x="450687" y="605592"/>
                </a:cubicBezTo>
                <a:cubicBezTo>
                  <a:pt x="436574" y="605592"/>
                  <a:pt x="424968" y="594005"/>
                  <a:pt x="424968" y="579915"/>
                </a:cubicBezTo>
                <a:lnTo>
                  <a:pt x="424968" y="514285"/>
                </a:lnTo>
                <a:lnTo>
                  <a:pt x="180219" y="514285"/>
                </a:lnTo>
                <a:lnTo>
                  <a:pt x="180219" y="579915"/>
                </a:lnTo>
                <a:cubicBezTo>
                  <a:pt x="180219" y="594005"/>
                  <a:pt x="168613" y="605592"/>
                  <a:pt x="154500" y="605592"/>
                </a:cubicBezTo>
                <a:cubicBezTo>
                  <a:pt x="140387" y="605592"/>
                  <a:pt x="128688" y="594005"/>
                  <a:pt x="128688" y="579915"/>
                </a:cubicBezTo>
                <a:lnTo>
                  <a:pt x="128688" y="514285"/>
                </a:lnTo>
                <a:lnTo>
                  <a:pt x="61744" y="514285"/>
                </a:lnTo>
                <a:cubicBezTo>
                  <a:pt x="47631" y="514285"/>
                  <a:pt x="36025" y="502698"/>
                  <a:pt x="36025" y="488608"/>
                </a:cubicBezTo>
                <a:lnTo>
                  <a:pt x="36025" y="51447"/>
                </a:lnTo>
                <a:lnTo>
                  <a:pt x="25719" y="51447"/>
                </a:lnTo>
                <a:cubicBezTo>
                  <a:pt x="11606" y="51447"/>
                  <a:pt x="0" y="39767"/>
                  <a:pt x="0" y="25677"/>
                </a:cubicBezTo>
                <a:cubicBezTo>
                  <a:pt x="0" y="11587"/>
                  <a:pt x="11606" y="0"/>
                  <a:pt x="2571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77"/>
            <a:endParaRPr lang="zh-CN" altLang="en-US" sz="1800">
              <a:solidFill>
                <a:prstClr val="white"/>
              </a:solidFill>
              <a:latin typeface="Arial"/>
              <a:ea typeface="微软雅黑"/>
            </a:endParaRPr>
          </a:p>
        </p:txBody>
      </p:sp>
      <p:pic>
        <p:nvPicPr>
          <p:cNvPr id="29" name="圖片 28" descr="一張含有 文字, 美工圖案 的圖片&#10;&#10;自動產生的描述">
            <a:extLst>
              <a:ext uri="{FF2B5EF4-FFF2-40B4-BE49-F238E27FC236}">
                <a16:creationId xmlns:a16="http://schemas.microsoft.com/office/drawing/2014/main" id="{E16D11F7-B693-452A-987C-7CD299A5E2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1804" y="5628036"/>
            <a:ext cx="2011092" cy="854956"/>
          </a:xfrm>
          <a:prstGeom prst="rect">
            <a:avLst/>
          </a:prstGeom>
        </p:spPr>
      </p:pic>
      <p:sp>
        <p:nvSpPr>
          <p:cNvPr id="8" name="內容版面配置區 23">
            <a:extLst>
              <a:ext uri="{FF2B5EF4-FFF2-40B4-BE49-F238E27FC236}">
                <a16:creationId xmlns:a16="http://schemas.microsoft.com/office/drawing/2014/main" id="{61D26570-7195-3C83-929E-5523AF21631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2394771" y="505978"/>
            <a:ext cx="5090512" cy="795379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3200"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9321109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808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0" r:id="rId2"/>
    <p:sldLayoutId id="2147483650" r:id="rId3"/>
    <p:sldLayoutId id="2147483649" r:id="rId4"/>
    <p:sldLayoutId id="2147483661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ver-mask"/>
          <p:cNvSpPr/>
          <p:nvPr/>
        </p:nvSpPr>
        <p:spPr>
          <a:xfrm>
            <a:off x="4096512" y="4434840"/>
            <a:ext cx="164592" cy="1508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24528" y="4041648"/>
            <a:ext cx="7498079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BF181F"/>
                </a:solidFill>
                <a:latin typeface="Microsoft JhengHei"/>
                <a:ea typeface="Microsoft JhengHei"/>
                <a:cs typeface="Microsoft JhengHei"/>
              </a:rPr>
              <a:t>技術簡報Technical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24528" y="4389120"/>
            <a:ext cx="749807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xConsole</a:t>
            </a:r>
          </a:p>
          <a:p>
            <a:pPr algn="l">
              <a:lnSpc>
                <a:spcPct val="100000"/>
              </a:lnSpc>
            </a:pPr>
            <a:r>
              <a:rPr sz="32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模型主控台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24528" y="5486400"/>
            <a:ext cx="72237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統一記憶體AI機的模型主控台：准入演算法、雙引擎換模型、安全架構、維運與已知限制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24528" y="6199632"/>
            <a:ext cx="74980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云碩科技股份有限公司　2026年10月　main分支（2026年10月22日）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xh-title"/>
          <p:cNvSpPr txBox="1"/>
          <p:nvPr/>
        </p:nvSpPr>
        <p:spPr>
          <a:xfrm>
            <a:off x="2286000" y="384048"/>
            <a:ext cx="9326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這份簡報的讀法：每個模組都標出做到哪裡</a:t>
            </a:r>
          </a:p>
        </p:txBody>
      </p:sp>
      <p:sp>
        <p:nvSpPr>
          <p:cNvPr id="3" name="xh-title"/>
          <p:cNvSpPr txBox="1"/>
          <p:nvPr/>
        </p:nvSpPr>
        <p:spPr>
          <a:xfrm>
            <a:off x="2286000" y="932688"/>
            <a:ext cx="93268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狀態標記全本一致；數字一律對得到測試輸出、程式常數與威脅模型</a:t>
            </a:r>
          </a:p>
        </p:txBody>
      </p:sp>
      <p:sp>
        <p:nvSpPr>
          <p:cNvPr id="4" name="card"/>
          <p:cNvSpPr/>
          <p:nvPr/>
        </p:nvSpPr>
        <p:spPr>
          <a:xfrm>
            <a:off x="621792" y="1417320"/>
            <a:ext cx="3054096" cy="1783080"/>
          </a:xfrm>
          <a:prstGeom prst="roundRect">
            <a:avLst>
              <a:gd name="adj" fmla="val 6000"/>
            </a:avLst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nner-status"/>
          <p:cNvSpPr/>
          <p:nvPr/>
        </p:nvSpPr>
        <p:spPr>
          <a:xfrm>
            <a:off x="822960" y="1591056"/>
            <a:ext cx="1577340" cy="329184"/>
          </a:xfrm>
          <a:prstGeom prst="roundRect">
            <a:avLst>
              <a:gd name="adj" fmla="val 50000"/>
            </a:avLst>
          </a:prstGeom>
          <a:solidFill>
            <a:srgbClr val="3E8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91056"/>
            <a:ext cx="15773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已實作且有測試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48256"/>
            <a:ext cx="26517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程式完成並有自動測試，且已在云碩自有機群（兩台AMD AI 395、一台Jetson AGX Thor）的正式環境運作。</a:t>
            </a:r>
          </a:p>
        </p:txBody>
      </p:sp>
      <p:sp>
        <p:nvSpPr>
          <p:cNvPr id="8" name="card"/>
          <p:cNvSpPr/>
          <p:nvPr/>
        </p:nvSpPr>
        <p:spPr>
          <a:xfrm>
            <a:off x="3840480" y="1417320"/>
            <a:ext cx="3054096" cy="1783080"/>
          </a:xfrm>
          <a:prstGeom prst="roundRect">
            <a:avLst>
              <a:gd name="adj" fmla="val 6000"/>
            </a:avLst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nner-status"/>
          <p:cNvSpPr/>
          <p:nvPr/>
        </p:nvSpPr>
        <p:spPr>
          <a:xfrm>
            <a:off x="4041648" y="1591056"/>
            <a:ext cx="1755648" cy="329184"/>
          </a:xfrm>
          <a:prstGeom prst="roundRect">
            <a:avLst>
              <a:gd name="adj" fmla="val 50000"/>
            </a:avLst>
          </a:prstGeom>
          <a:solidFill>
            <a:srgbClr val="5B6B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41648" y="1591056"/>
            <a:ext cx="175564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已實作待實機驗證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41648" y="2048256"/>
            <a:ext cx="26517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程式與自動測試完成，還沒在真實硬體上跑過。目前屬於這一類的是DGX Spark的實機納管。</a:t>
            </a:r>
          </a:p>
        </p:txBody>
      </p:sp>
      <p:sp>
        <p:nvSpPr>
          <p:cNvPr id="12" name="card"/>
          <p:cNvSpPr/>
          <p:nvPr/>
        </p:nvSpPr>
        <p:spPr>
          <a:xfrm>
            <a:off x="7059168" y="1417320"/>
            <a:ext cx="3054096" cy="1783080"/>
          </a:xfrm>
          <a:prstGeom prst="roundRect">
            <a:avLst>
              <a:gd name="adj" fmla="val 6000"/>
            </a:avLst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inner-status"/>
          <p:cNvSpPr/>
          <p:nvPr/>
        </p:nvSpPr>
        <p:spPr>
          <a:xfrm>
            <a:off x="7260336" y="1591056"/>
            <a:ext cx="864108" cy="329184"/>
          </a:xfrm>
          <a:prstGeom prst="roundRect">
            <a:avLst>
              <a:gd name="adj" fmla="val 50000"/>
            </a:avLst>
          </a:prstGeom>
          <a:solidFill>
            <a:srgbClr val="D9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60336" y="1591056"/>
            <a:ext cx="86410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規劃中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0336" y="2048256"/>
            <a:ext cx="26517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列在威脅模型缺口清單，尚未實作，集中放在最後的已知限制與路線圖頁，不寫成功能。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340156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BF181F"/>
                </a:solidFill>
                <a:latin typeface="Microsoft JhengHei"/>
                <a:ea typeface="Microsoft JhengHei"/>
                <a:cs typeface="Microsoft JhengHei"/>
              </a:rPr>
              <a:t>數字口徑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3730752"/>
            <a:ext cx="51206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測試數字是2026年10月22日在.27實際執行的通過項計數，共214項，另有12項真機冒煙測試。記憶體與速度數字取自自有機群的量測紀錄，不是規格值；每個數字的出處寫在備忘稿。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340156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BF181F"/>
                </a:solidFill>
                <a:latin typeface="Microsoft JhengHei"/>
                <a:ea typeface="Microsoft JhengHei"/>
                <a:cs typeface="Microsoft JhengHei"/>
              </a:rPr>
              <a:t>內容順序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3749039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1　風險與架構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4151376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2　記憶體准入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4553712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3　換模型與雙引擎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4956048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4　模型庫與API串接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0" y="3749039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5　安全架構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0" y="4151376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6　憑證、稽核、報告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0" y="4553712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7　證據與規格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0" y="4956048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8　限制、路線圖、導入</a:t>
            </a:r>
          </a:p>
        </p:txBody>
      </p:sp>
      <p:sp>
        <p:nvSpPr>
          <p:cNvPr id="27" name="goldline"/>
          <p:cNvSpPr/>
          <p:nvPr/>
        </p:nvSpPr>
        <p:spPr>
          <a:xfrm>
            <a:off x="621792" y="5614416"/>
            <a:ext cx="9509760" cy="493776"/>
          </a:xfrm>
          <a:prstGeom prst="roundRect">
            <a:avLst>
              <a:gd name="adj" fmla="val 14000"/>
            </a:avLst>
          </a:prstGeom>
          <a:solidFill>
            <a:srgbClr val="FB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" y="5614416"/>
            <a:ext cx="909828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9C1218"/>
                </a:solidFill>
                <a:latin typeface="Microsoft JhengHei"/>
                <a:ea typeface="Microsoft JhengHei"/>
                <a:cs typeface="Microsoft JhengHei"/>
              </a:rPr>
              <a:t>做到的寫做到，沒做到的寫出缺口與期限。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8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20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600"/>
                            </p:stCondLst>
                            <p:childTnLst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200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2400"/>
                            </p:stCondLst>
                            <p:childTnLst>
                              <p:par>
                                <p:cTn id="5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2800"/>
                            </p:stCondLst>
                            <p:childTnLst>
                              <p:par>
                                <p:cTn id="5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320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3600"/>
                            </p:stCondLst>
                            <p:childTnLst>
                              <p:par>
                                <p:cTn id="6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400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4400"/>
                            </p:stCondLst>
                            <p:childTnLst>
                              <p:par>
                                <p:cTn id="7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4800"/>
                            </p:stCondLst>
                            <p:childTnLst>
                              <p:par>
                                <p:cTn id="7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200"/>
                            </p:stCondLst>
                            <p:childTnLst>
                              <p:par>
                                <p:cTn id="8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5600"/>
                            </p:stCondLst>
                            <p:childTnLst>
                              <p:par>
                                <p:cTn id="8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xh-title"/>
          <p:cNvSpPr txBox="1"/>
          <p:nvPr/>
        </p:nvSpPr>
        <p:spPr>
          <a:xfrm>
            <a:off x="2286000" y="384048"/>
            <a:ext cx="9326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為什麼需要：統一記憶體機的失效方式跟一般伺服器不同</a:t>
            </a:r>
          </a:p>
        </p:txBody>
      </p:sp>
      <p:sp>
        <p:nvSpPr>
          <p:cNvPr id="3" name="xh-title"/>
          <p:cNvSpPr txBox="1"/>
          <p:nvPr/>
        </p:nvSpPr>
        <p:spPr>
          <a:xfrm>
            <a:off x="2286000" y="932688"/>
            <a:ext cx="93268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云碩自有機群的實際紀錄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71600"/>
            <a:ext cx="5760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記憶體是共用的　</a:t>
            </a:r>
            <a:r>
              <a:rPr sz="13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AMD AI 395把96 GiB切給GPU，作業系統只剩31 GiB；Jetson與DGX Spark則是GPU和系統搶同一池。傳統監控只看顯存，在這些機器上會盯錯數字。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2295144"/>
            <a:ext cx="5760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失效不會報錯　</a:t>
            </a:r>
            <a:r>
              <a:rPr sz="13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記憶體耗盡時引擎多半不會回錯誤，而是系統開始大量使用置換空間，整台越來越慢，最後連SSH都進不去，只能到現場重開。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3218687"/>
            <a:ext cx="576072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用量會在載入後才長大　</a:t>
            </a:r>
            <a:r>
              <a:rPr sz="13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模型剛載入時用量不高，處理長提示時上下文快取才撐開；只看當下用量放行，稍後就會出事。</a:t>
            </a:r>
          </a:p>
        </p:txBody>
      </p:sp>
      <p:sp>
        <p:nvSpPr>
          <p:cNvPr id="7" name="panel"/>
          <p:cNvSpPr/>
          <p:nvPr/>
        </p:nvSpPr>
        <p:spPr>
          <a:xfrm>
            <a:off x="6629400" y="1371600"/>
            <a:ext cx="3502152" cy="3931920"/>
          </a:xfrm>
          <a:prstGeom prst="roundRect">
            <a:avLst>
              <a:gd name="adj" fmla="val 6000"/>
            </a:avLst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12280" y="1517904"/>
            <a:ext cx="313639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9C1218"/>
                </a:solidFill>
                <a:latin typeface="Microsoft JhengHei"/>
                <a:ea typeface="Microsoft JhengHei"/>
                <a:cs typeface="Microsoft JhengHei"/>
              </a:rPr>
              <a:t>自有機群紀錄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12280" y="1847088"/>
            <a:ext cx="3136392" cy="871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2026年10月2日：AI 395系統記憶體可用1 GiB／31 GiB，置換空間用掉25 GiB，負載7.7，每段處理67秒。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12280" y="2773680"/>
            <a:ext cx="3136392" cy="445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更早以前：記憶體耗盡導致整台卡死，不只一次需到機房重開。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2280" y="3273552"/>
            <a:ext cx="3136392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2026年10月20日：裝上xConsole後再載一顆64 GiB模型，試算剩3.2 GiB，低於15 GiB底線而擋下。</a:t>
            </a:r>
          </a:p>
        </p:txBody>
      </p:sp>
      <p:sp>
        <p:nvSpPr>
          <p:cNvPr id="12" name="goldline"/>
          <p:cNvSpPr/>
          <p:nvPr/>
        </p:nvSpPr>
        <p:spPr>
          <a:xfrm>
            <a:off x="621792" y="5614416"/>
            <a:ext cx="9509760" cy="493776"/>
          </a:xfrm>
          <a:prstGeom prst="roundRect">
            <a:avLst>
              <a:gd name="adj" fmla="val 14000"/>
            </a:avLst>
          </a:prstGeom>
          <a:solidFill>
            <a:srgbClr val="FB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5614416"/>
            <a:ext cx="909828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9C1218"/>
                </a:solidFill>
                <a:latin typeface="Microsoft JhengHei"/>
                <a:ea typeface="Microsoft JhengHei"/>
                <a:cs typeface="Microsoft JhengHei"/>
              </a:rPr>
              <a:t>要防的是「載下去之後最壞剩多少」，不是「現在用了多少」。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0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4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1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8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xh-title"/>
          <p:cNvSpPr txBox="1"/>
          <p:nvPr/>
        </p:nvSpPr>
        <p:spPr>
          <a:xfrm>
            <a:off x="2286000" y="384048"/>
            <a:ext cx="9326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系統全景：誰在用、能做什麼、跑在哪裡</a:t>
            </a:r>
          </a:p>
        </p:txBody>
      </p:sp>
      <p:sp>
        <p:nvSpPr>
          <p:cNvPr id="3" name="status"/>
          <p:cNvSpPr/>
          <p:nvPr/>
        </p:nvSpPr>
        <p:spPr>
          <a:xfrm>
            <a:off x="2286000" y="932688"/>
            <a:ext cx="1474470" cy="274320"/>
          </a:xfrm>
          <a:prstGeom prst="roundRect">
            <a:avLst>
              <a:gd name="adj" fmla="val 50000"/>
            </a:avLst>
          </a:prstGeom>
          <a:solidFill>
            <a:srgbClr val="3E8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0" y="932688"/>
            <a:ext cx="147447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已實作且有測試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51909" y="932688"/>
            <a:ext cx="248202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AI 395與Jetson已在正式環境</a:t>
            </a:r>
          </a:p>
        </p:txBody>
      </p:sp>
      <p:sp>
        <p:nvSpPr>
          <p:cNvPr id="6" name="status"/>
          <p:cNvSpPr/>
          <p:nvPr/>
        </p:nvSpPr>
        <p:spPr>
          <a:xfrm>
            <a:off x="6562534" y="932688"/>
            <a:ext cx="1645920" cy="274320"/>
          </a:xfrm>
          <a:prstGeom prst="roundRect">
            <a:avLst>
              <a:gd name="adj" fmla="val 50000"/>
            </a:avLst>
          </a:prstGeom>
          <a:solidFill>
            <a:srgbClr val="5B6B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62534" y="932688"/>
            <a:ext cx="16459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已實作待實機驗證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99894" y="932688"/>
            <a:ext cx="1422463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DGX Spark待實機</a:t>
            </a:r>
          </a:p>
        </p:txBody>
      </p:sp>
      <p:pic>
        <p:nvPicPr>
          <p:cNvPr id="9" name="xh-layer0" descr="fig-overview.step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045" y="1298448"/>
            <a:ext cx="10925605" cy="4233672"/>
          </a:xfrm>
          <a:prstGeom prst="rect">
            <a:avLst/>
          </a:prstGeom>
        </p:spPr>
      </p:pic>
      <p:pic>
        <p:nvPicPr>
          <p:cNvPr id="10" name="xh-layer1" descr="fig-overview.step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045" y="1298448"/>
            <a:ext cx="10925605" cy="4233672"/>
          </a:xfrm>
          <a:prstGeom prst="rect">
            <a:avLst/>
          </a:prstGeom>
        </p:spPr>
      </p:pic>
      <p:pic>
        <p:nvPicPr>
          <p:cNvPr id="11" name="xh-layer2" descr="fig-overview.step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045" y="1298448"/>
            <a:ext cx="10925605" cy="4233672"/>
          </a:xfrm>
          <a:prstGeom prst="rect">
            <a:avLst/>
          </a:prstGeom>
        </p:spPr>
      </p:pic>
      <p:pic>
        <p:nvPicPr>
          <p:cNvPr id="12" name="xh-layer3" descr="fig-overview.step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045" y="1298448"/>
            <a:ext cx="10925605" cy="423367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7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4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xh-title"/>
          <p:cNvSpPr txBox="1"/>
          <p:nvPr/>
        </p:nvSpPr>
        <p:spPr>
          <a:xfrm>
            <a:off x="2286000" y="384048"/>
            <a:ext cx="9326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元件與執行方式：三個程序，全部以一般使用者執行</a:t>
            </a:r>
          </a:p>
        </p:txBody>
      </p:sp>
      <p:sp>
        <p:nvSpPr>
          <p:cNvPr id="3" name="xh-title"/>
          <p:cNvSpPr txBox="1"/>
          <p:nvPr/>
        </p:nvSpPr>
        <p:spPr>
          <a:xfrm>
            <a:off x="2286000" y="932688"/>
            <a:ext cx="93268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不需要root、不需要容器；依賴只有cryptography一套</a:t>
            </a:r>
          </a:p>
        </p:txBody>
      </p:sp>
      <p:sp>
        <p:nvSpPr>
          <p:cNvPr id="4" name="thead"/>
          <p:cNvSpPr/>
          <p:nvPr/>
        </p:nvSpPr>
        <p:spPr>
          <a:xfrm>
            <a:off x="621792" y="1371600"/>
            <a:ext cx="9509760" cy="310896"/>
          </a:xfrm>
          <a:prstGeom prst="roundRect">
            <a:avLst>
              <a:gd name="adj" fmla="val 12000"/>
            </a:avLst>
          </a:prstGeom>
          <a:solidFill>
            <a:srgbClr val="BF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1700784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元件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0" y="1371600"/>
            <a:ext cx="3803904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做什麼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46520" y="1371600"/>
            <a:ext cx="1883664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執行方式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1371600"/>
            <a:ext cx="1609343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資源上限</a:t>
            </a:r>
          </a:p>
        </p:txBody>
      </p:sp>
      <p:sp>
        <p:nvSpPr>
          <p:cNvPr id="9" name="zebra"/>
          <p:cNvSpPr/>
          <p:nvPr/>
        </p:nvSpPr>
        <p:spPr>
          <a:xfrm>
            <a:off x="621792" y="1709928"/>
            <a:ext cx="9509760" cy="539496"/>
          </a:xfrm>
          <a:prstGeom prst="rect">
            <a:avLst/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709928"/>
            <a:ext cx="1700784" cy="539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主控台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4600" y="1709928"/>
            <a:ext cx="3803904" cy="539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網頁介面與API、准入彙整、憑證管理、稽核與取樣、使用報告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709928"/>
            <a:ext cx="1883664" cy="539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systemd使用者服務，埠9400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200" y="1709928"/>
            <a:ext cx="1609343" cy="539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記憶體512 MiB、CPU 40%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249424"/>
            <a:ext cx="1700784" cy="539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節點代理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14600" y="2249424"/>
            <a:ext cx="3803904" cy="539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每台一個：讀硬體、准入試算、啟停服務、換模型、模型庫、下載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249424"/>
            <a:ext cx="1883664" cy="539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systemd使用者服務，埠9401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2249424"/>
            <a:ext cx="1609343" cy="539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記憶體256 MiB、CPU 25%</a:t>
            </a:r>
          </a:p>
        </p:txBody>
      </p:sp>
      <p:sp>
        <p:nvSpPr>
          <p:cNvPr id="18" name="zebra"/>
          <p:cNvSpPr/>
          <p:nvPr/>
        </p:nvSpPr>
        <p:spPr>
          <a:xfrm>
            <a:off x="621792" y="2788920"/>
            <a:ext cx="9509760" cy="539496"/>
          </a:xfrm>
          <a:prstGeom prst="rect">
            <a:avLst/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2788920"/>
            <a:ext cx="1700784" cy="539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推論引擎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14600" y="2788920"/>
            <a:ext cx="3803904" cy="539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Strata（Qwen3.8家族）或llama.cpp（其他GGUF），由代理產生設定與服務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2788920"/>
            <a:ext cx="1883664" cy="539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systemd使用者服務，埠依欄位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788920"/>
            <a:ext cx="1609343" cy="539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由准入試算把關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3328415"/>
            <a:ext cx="1700784" cy="7452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資料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14600" y="3328415"/>
            <a:ext cx="3803904" cy="7452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SQLite（稽核、取樣、登入票證）、設定檔、憑證與主金鑰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3328415"/>
            <a:ext cx="1883664" cy="7452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主控台的~/.xconsole，目錄0700、檔案0600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328415"/>
            <a:ext cx="1609343" cy="7452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取樣與稽核保存400天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" y="4160520"/>
            <a:ext cx="9509760" cy="5041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技術選擇　</a:t>
            </a:r>
            <a:r>
              <a:rPr sz="130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主控台與代理只用Python標準函式庫的HTTP伺服器，加上cryptography處理憑證與加密；前端是無框架的原生JavaScript，沒有建置步驟。依賴少，SBOM只有四個套件，弱點面小。</a:t>
            </a:r>
          </a:p>
        </p:txBody>
      </p:sp>
      <p:sp>
        <p:nvSpPr>
          <p:cNvPr id="28" name="goldline"/>
          <p:cNvSpPr/>
          <p:nvPr/>
        </p:nvSpPr>
        <p:spPr>
          <a:xfrm>
            <a:off x="621792" y="5614416"/>
            <a:ext cx="9509760" cy="493776"/>
          </a:xfrm>
          <a:prstGeom prst="roundRect">
            <a:avLst>
              <a:gd name="adj" fmla="val 14000"/>
            </a:avLst>
          </a:prstGeom>
          <a:solidFill>
            <a:srgbClr val="FB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" y="5614416"/>
            <a:ext cx="909828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9C1218"/>
                </a:solidFill>
                <a:latin typeface="Microsoft JhengHei"/>
                <a:ea typeface="Microsoft JhengHei"/>
                <a:cs typeface="Microsoft JhengHei"/>
              </a:rPr>
              <a:t>依賴越少，要追的弱點越少。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4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8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20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600"/>
                            </p:stCondLst>
                            <p:childTnLst>
                              <p:par>
                                <p:cTn id="6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2000"/>
                            </p:stCondLst>
                            <p:childTnLst>
                              <p:par>
                                <p:cTn id="7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2400"/>
                            </p:stCondLst>
                            <p:childTnLst>
                              <p:par>
                                <p:cTn id="8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xh-title"/>
          <p:cNvSpPr txBox="1"/>
          <p:nvPr/>
        </p:nvSpPr>
        <p:spPr>
          <a:xfrm>
            <a:off x="2286000" y="384048"/>
            <a:ext cx="9326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部署型態：單機附在AI機上，多機選一台當主控台</a:t>
            </a:r>
          </a:p>
        </p:txBody>
      </p:sp>
      <p:sp>
        <p:nvSpPr>
          <p:cNvPr id="3" name="status"/>
          <p:cNvSpPr/>
          <p:nvPr/>
        </p:nvSpPr>
        <p:spPr>
          <a:xfrm>
            <a:off x="2286000" y="932688"/>
            <a:ext cx="1474470" cy="274320"/>
          </a:xfrm>
          <a:prstGeom prst="roundRect">
            <a:avLst>
              <a:gd name="adj" fmla="val 50000"/>
            </a:avLst>
          </a:prstGeom>
          <a:solidFill>
            <a:srgbClr val="3E8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0" y="932688"/>
            <a:ext cx="147447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已實作且有測試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51909" y="932688"/>
            <a:ext cx="1417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單機與多機都在用</a:t>
            </a:r>
          </a:p>
        </p:txBody>
      </p:sp>
      <p:sp>
        <p:nvSpPr>
          <p:cNvPr id="6" name="status"/>
          <p:cNvSpPr/>
          <p:nvPr/>
        </p:nvSpPr>
        <p:spPr>
          <a:xfrm>
            <a:off x="5497830" y="932688"/>
            <a:ext cx="1474470" cy="274320"/>
          </a:xfrm>
          <a:prstGeom prst="roundRect">
            <a:avLst>
              <a:gd name="adj" fmla="val 50000"/>
            </a:avLst>
          </a:prstGeom>
          <a:solidFill>
            <a:srgbClr val="3E8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97830" y="932688"/>
            <a:ext cx="147447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已實作且有測試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63740" y="932688"/>
            <a:ext cx="1417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三台機器正式納管</a:t>
            </a:r>
          </a:p>
        </p:txBody>
      </p:sp>
      <p:pic>
        <p:nvPicPr>
          <p:cNvPr id="9" name="xh-layer0" descr="fig-deploy.step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045" y="1298448"/>
            <a:ext cx="10925605" cy="4233672"/>
          </a:xfrm>
          <a:prstGeom prst="rect">
            <a:avLst/>
          </a:prstGeom>
        </p:spPr>
      </p:pic>
      <p:pic>
        <p:nvPicPr>
          <p:cNvPr id="10" name="xh-layer1" descr="fig-deploy.step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045" y="1298448"/>
            <a:ext cx="10925605" cy="4233672"/>
          </a:xfrm>
          <a:prstGeom prst="rect">
            <a:avLst/>
          </a:prstGeom>
        </p:spPr>
      </p:pic>
      <p:pic>
        <p:nvPicPr>
          <p:cNvPr id="11" name="xh-layer2" descr="fig-deploy.step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045" y="1298448"/>
            <a:ext cx="10925605" cy="4233672"/>
          </a:xfrm>
          <a:prstGeom prst="rect">
            <a:avLst/>
          </a:prstGeom>
        </p:spPr>
      </p:pic>
      <p:pic>
        <p:nvPicPr>
          <p:cNvPr id="12" name="xh-layer3" descr="fig-deploy.step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045" y="1298448"/>
            <a:ext cx="10925605" cy="423367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7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4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xh-title"/>
          <p:cNvSpPr txBox="1"/>
          <p:nvPr/>
        </p:nvSpPr>
        <p:spPr>
          <a:xfrm>
            <a:off x="2286000" y="384048"/>
            <a:ext cx="9326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三種記憶體架構分開計算</a:t>
            </a:r>
          </a:p>
        </p:txBody>
      </p:sp>
      <p:sp>
        <p:nvSpPr>
          <p:cNvPr id="3" name="status"/>
          <p:cNvSpPr/>
          <p:nvPr/>
        </p:nvSpPr>
        <p:spPr>
          <a:xfrm>
            <a:off x="2286000" y="932688"/>
            <a:ext cx="1474470" cy="274320"/>
          </a:xfrm>
          <a:prstGeom prst="roundRect">
            <a:avLst>
              <a:gd name="adj" fmla="val 50000"/>
            </a:avLst>
          </a:prstGeom>
          <a:solidFill>
            <a:srgbClr val="3E8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0" y="932688"/>
            <a:ext cx="147447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已實作且有測試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51909" y="932688"/>
            <a:ext cx="392049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unified_split、unified_single、discrete</a:t>
            </a:r>
          </a:p>
        </p:txBody>
      </p:sp>
      <p:sp>
        <p:nvSpPr>
          <p:cNvPr id="6" name="status"/>
          <p:cNvSpPr/>
          <p:nvPr/>
        </p:nvSpPr>
        <p:spPr>
          <a:xfrm>
            <a:off x="8001000" y="932688"/>
            <a:ext cx="1645920" cy="274320"/>
          </a:xfrm>
          <a:prstGeom prst="roundRect">
            <a:avLst>
              <a:gd name="adj" fmla="val 50000"/>
            </a:avLst>
          </a:prstGeom>
          <a:solidFill>
            <a:srgbClr val="5B6B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01000" y="932688"/>
            <a:ext cx="16459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已實作待實機驗證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38360" y="932688"/>
            <a:ext cx="1251013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DGX Spark實機</a:t>
            </a:r>
          </a:p>
        </p:txBody>
      </p:sp>
      <p:pic>
        <p:nvPicPr>
          <p:cNvPr id="9" name="xh-layer0" descr="fig-memory.step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045" y="1298448"/>
            <a:ext cx="10925605" cy="4233672"/>
          </a:xfrm>
          <a:prstGeom prst="rect">
            <a:avLst/>
          </a:prstGeom>
        </p:spPr>
      </p:pic>
      <p:pic>
        <p:nvPicPr>
          <p:cNvPr id="10" name="xh-layer1" descr="fig-memory.step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045" y="1298448"/>
            <a:ext cx="10925605" cy="4233672"/>
          </a:xfrm>
          <a:prstGeom prst="rect">
            <a:avLst/>
          </a:prstGeom>
        </p:spPr>
      </p:pic>
      <p:pic>
        <p:nvPicPr>
          <p:cNvPr id="11" name="xh-layer2" descr="fig-memory.step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045" y="1298448"/>
            <a:ext cx="10925605" cy="4233672"/>
          </a:xfrm>
          <a:prstGeom prst="rect">
            <a:avLst/>
          </a:prstGeom>
        </p:spPr>
      </p:pic>
      <p:pic>
        <p:nvPicPr>
          <p:cNvPr id="12" name="xh-layer3" descr="fig-memory.step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045" y="1298448"/>
            <a:ext cx="10925605" cy="423367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7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4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xh-title"/>
          <p:cNvSpPr txBox="1"/>
          <p:nvPr/>
        </p:nvSpPr>
        <p:spPr>
          <a:xfrm>
            <a:off x="2286000" y="384048"/>
            <a:ext cx="9326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准入演算法：每次啟動、換模型、調大上下文前都會跑</a:t>
            </a:r>
          </a:p>
        </p:txBody>
      </p:sp>
      <p:sp>
        <p:nvSpPr>
          <p:cNvPr id="3" name="status"/>
          <p:cNvSpPr/>
          <p:nvPr/>
        </p:nvSpPr>
        <p:spPr>
          <a:xfrm>
            <a:off x="621792" y="1325880"/>
            <a:ext cx="1511046" cy="292608"/>
          </a:xfrm>
          <a:prstGeom prst="roundRect">
            <a:avLst>
              <a:gd name="adj" fmla="val 50000"/>
            </a:avLst>
          </a:prstGeom>
          <a:solidFill>
            <a:srgbClr val="3E8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325880"/>
            <a:ext cx="1511046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已實作且有測試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79142" y="1344168"/>
            <a:ext cx="922401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agent/test_admit.py 15項：三種架構、KV兩種量級、底線邊界、滑動視窗乘並行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783080"/>
            <a:ext cx="5852160" cy="49621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3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輸入　</a:t>
            </a:r>
            <a:r>
              <a:rPr sz="130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各池可用量（由硬體量測）、欄位的預估需求（權重＋常駐量）、最壞情況的上下文快取＝每token位元組×上下文×並行數。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2389022"/>
            <a:ext cx="5852160" cy="49621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3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算回自己　</a:t>
            </a:r>
            <a:r>
              <a:rPr sz="130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重啟正在跑的欄位時，先把它目前占的量加回可用量；跨引擎切換時，舊引擎是另一個服務，另以extra_free算回。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2994964"/>
            <a:ext cx="5852160" cy="49621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3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判斷　</a:t>
            </a:r>
            <a:r>
              <a:rPr sz="130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任何一池在載入後低於底線就拒絕；距底線4 GiB內放行但提出警告。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3600907"/>
            <a:ext cx="5852160" cy="49621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3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輸出　</a:t>
            </a:r>
            <a:r>
              <a:rPr sz="130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allow、reasons（白話說明哪一池差多少）、warnings、kv_note；管理者可選擇強制執行，系統留下稽核紀錄。</a:t>
            </a:r>
          </a:p>
        </p:txBody>
      </p:sp>
      <p:sp>
        <p:nvSpPr>
          <p:cNvPr id="10" name="thead"/>
          <p:cNvSpPr/>
          <p:nvPr/>
        </p:nvSpPr>
        <p:spPr>
          <a:xfrm>
            <a:off x="6720840" y="1783080"/>
            <a:ext cx="3383280" cy="310896"/>
          </a:xfrm>
          <a:prstGeom prst="roundRect">
            <a:avLst>
              <a:gd name="adj" fmla="val 12000"/>
            </a:avLst>
          </a:prstGeom>
          <a:solidFill>
            <a:srgbClr val="BF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84848" y="1783080"/>
            <a:ext cx="1472184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架構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5048" y="1783080"/>
            <a:ext cx="1655064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預設底線</a:t>
            </a:r>
          </a:p>
        </p:txBody>
      </p:sp>
      <p:sp>
        <p:nvSpPr>
          <p:cNvPr id="13" name="zebra"/>
          <p:cNvSpPr/>
          <p:nvPr/>
        </p:nvSpPr>
        <p:spPr>
          <a:xfrm>
            <a:off x="6720840" y="2121408"/>
            <a:ext cx="3383280" cy="539496"/>
          </a:xfrm>
          <a:prstGeom prst="rect">
            <a:avLst/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84848" y="2121408"/>
            <a:ext cx="1472184" cy="539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unified_split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5048" y="2121408"/>
            <a:ext cx="1655064" cy="539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系統15 GiB、顯存2 GiB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84848" y="2660903"/>
            <a:ext cx="1472184" cy="3337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unified_single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5048" y="2660903"/>
            <a:ext cx="1655064" cy="3337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單一池12 GiB</a:t>
            </a:r>
          </a:p>
        </p:txBody>
      </p:sp>
      <p:sp>
        <p:nvSpPr>
          <p:cNvPr id="18" name="zebra"/>
          <p:cNvSpPr/>
          <p:nvPr/>
        </p:nvSpPr>
        <p:spPr>
          <a:xfrm>
            <a:off x="6720840" y="2994659"/>
            <a:ext cx="3383280" cy="539496"/>
          </a:xfrm>
          <a:prstGeom prst="rect">
            <a:avLst/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4848" y="2994659"/>
            <a:ext cx="1472184" cy="539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discrete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5048" y="2994659"/>
            <a:ext cx="1655064" cy="539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系統8 GiB、顯存1 GiB</a:t>
            </a:r>
          </a:p>
        </p:txBody>
      </p:sp>
      <p:sp>
        <p:nvSpPr>
          <p:cNvPr id="21" name="goldline"/>
          <p:cNvSpPr/>
          <p:nvPr/>
        </p:nvSpPr>
        <p:spPr>
          <a:xfrm>
            <a:off x="621792" y="5614416"/>
            <a:ext cx="9509760" cy="493776"/>
          </a:xfrm>
          <a:prstGeom prst="roundRect">
            <a:avLst>
              <a:gd name="adj" fmla="val 14000"/>
            </a:avLst>
          </a:prstGeom>
          <a:solidFill>
            <a:srgbClr val="FB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" y="5614416"/>
            <a:ext cx="909828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9C1218"/>
                </a:solidFill>
                <a:latin typeface="Microsoft JhengHei"/>
                <a:ea typeface="Microsoft JhengHei"/>
                <a:cs typeface="Microsoft JhengHei"/>
              </a:rPr>
              <a:t>擋下來時說得出差多少，管理者才知道要停哪個、調哪裡。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4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8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6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40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28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3200"/>
                            </p:stCondLst>
                            <p:childTnLst>
                              <p:par>
                                <p:cTn id="5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3600"/>
                            </p:stCondLst>
                            <p:childTnLst>
                              <p:par>
                                <p:cTn id="6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xh-title"/>
          <p:cNvSpPr txBox="1"/>
          <p:nvPr/>
        </p:nvSpPr>
        <p:spPr>
          <a:xfrm>
            <a:off x="2286000" y="384048"/>
            <a:ext cx="9326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上下文快取怎麼估：兩種引擎、差好幾個數量級</a:t>
            </a:r>
          </a:p>
        </p:txBody>
      </p:sp>
      <p:sp>
        <p:nvSpPr>
          <p:cNvPr id="3" name="status"/>
          <p:cNvSpPr/>
          <p:nvPr/>
        </p:nvSpPr>
        <p:spPr>
          <a:xfrm>
            <a:off x="621792" y="1325880"/>
            <a:ext cx="1511046" cy="292608"/>
          </a:xfrm>
          <a:prstGeom prst="roundRect">
            <a:avLst>
              <a:gd name="adj" fmla="val 50000"/>
            </a:avLst>
          </a:prstGeom>
          <a:solidFill>
            <a:srgbClr val="3E8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325880"/>
            <a:ext cx="1511046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已實作且有測試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79142" y="1344168"/>
            <a:ext cx="922401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Strata以實測校正；llama.cpp由GGUF檔頭計算，真機冒煙測試驗證過讀取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783080"/>
            <a:ext cx="9509760" cy="49621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3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Strata（Qwen3.8-Flash-Next）　</a:t>
            </a:r>
            <a:r>
              <a:rPr sz="130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GDN線性混合注意力，int8下每token只要1,056位元組。實測把上下文由32,768調到131,072，載入後剩餘顯存由33,026～33,416 MiB變為33,094 MiB，幾乎不變。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2389022"/>
            <a:ext cx="9509760" cy="49621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3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llama.cpp（GGUF）　</a:t>
            </a:r>
            <a:r>
              <a:rPr sz="130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直接讀檔頭的層數、每層KV頭數與頭維度：每token位元組＝Σ每層KV頭數×(K＋V)×2；混合架構的SSM層KV頭數為0自然不計；滑動視窗層只計min(上下文, 視窗)，兩部分都乘並行數。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2994964"/>
            <a:ext cx="9509760" cy="2663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3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實例　</a:t>
            </a:r>
            <a:r>
              <a:rPr sz="130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SmolLM2-135M：30層、每層3個KV頭、頭維度64，算得每token 23,040位元組，與手算一致。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3371088"/>
            <a:ext cx="9509760" cy="2663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3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校正　</a:t>
            </a:r>
            <a:r>
              <a:rPr sz="130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模型載入成功後，代理自動量一次實際用量存起來；下次換回這顆，估算優先用實測值。</a:t>
            </a:r>
          </a:p>
        </p:txBody>
      </p:sp>
      <p:sp>
        <p:nvSpPr>
          <p:cNvPr id="10" name="goldline"/>
          <p:cNvSpPr/>
          <p:nvPr/>
        </p:nvSpPr>
        <p:spPr>
          <a:xfrm>
            <a:off x="621792" y="5614416"/>
            <a:ext cx="9509760" cy="493776"/>
          </a:xfrm>
          <a:prstGeom prst="roundRect">
            <a:avLst>
              <a:gd name="adj" fmla="val 14000"/>
            </a:avLst>
          </a:prstGeom>
          <a:solidFill>
            <a:srgbClr val="FB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5614416"/>
            <a:ext cx="909828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9C1218"/>
                </a:solidFill>
                <a:latin typeface="Microsoft JhengHei"/>
                <a:ea typeface="Microsoft JhengHei"/>
                <a:cs typeface="Microsoft JhengHei"/>
              </a:rPr>
              <a:t>同樣128K上下文，線性注意力0.13 GiB，全注意力可能幾十GiB，不能套同一個數字。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4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1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8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5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xh-title"/>
          <p:cNvSpPr txBox="1"/>
          <p:nvPr/>
        </p:nvSpPr>
        <p:spPr>
          <a:xfrm>
            <a:off x="2286000" y="384048"/>
            <a:ext cx="9326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角色欄位與服務狀態：不把狀態壓成開或關</a:t>
            </a:r>
          </a:p>
        </p:txBody>
      </p:sp>
      <p:sp>
        <p:nvSpPr>
          <p:cNvPr id="3" name="status"/>
          <p:cNvSpPr/>
          <p:nvPr/>
        </p:nvSpPr>
        <p:spPr>
          <a:xfrm>
            <a:off x="621792" y="1325880"/>
            <a:ext cx="1511046" cy="292608"/>
          </a:xfrm>
          <a:prstGeom prst="roundRect">
            <a:avLst>
              <a:gd name="adj" fmla="val 50000"/>
            </a:avLst>
          </a:prstGeom>
          <a:solidFill>
            <a:srgbClr val="3E8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325880"/>
            <a:ext cx="1511046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已實作且有測試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79142" y="1344168"/>
            <a:ext cx="922401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Jetson AGX Thor與兩台AI 395的角色欄位在正式環境運作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783080"/>
            <a:ext cx="5212080" cy="7260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3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欄位登錄　</a:t>
            </a:r>
            <a:r>
              <a:rPr sz="130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每台的~/.xconsole/registry.json：角色、systemd服務名、引擎種類、預估需求、能力標籤、是否為關鍵服務。登錄檔只能經SSH寫入，沒有API可改。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2618841"/>
            <a:ext cx="5212080" cy="9558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3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狀態　</a:t>
            </a:r>
            <a:r>
              <a:rPr sz="130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直接取systemd的真實狀態：active、activating、deactivating、failed；設了Restart=的服務退出時會停在activating，要再看SubState是否為auto-restart。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3684422"/>
            <a:ext cx="5212080" cy="49621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3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速度與用量　</a:t>
            </a:r>
            <a:r>
              <a:rPr sz="130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常駐記憶體取服務所有程序的RSS；速度取自引擎每次請求留下的紀錄，累積成區間，不是規格值。</a:t>
            </a:r>
          </a:p>
        </p:txBody>
      </p:sp>
      <p:sp>
        <p:nvSpPr>
          <p:cNvPr id="9" name="shotframe"/>
          <p:cNvSpPr/>
          <p:nvPr/>
        </p:nvSpPr>
        <p:spPr>
          <a:xfrm>
            <a:off x="5989320" y="1783080"/>
            <a:ext cx="4160520" cy="3611880"/>
          </a:xfrm>
          <a:prstGeom prst="roundRect">
            <a:avLst>
              <a:gd name="adj" fmla="val 3000"/>
            </a:avLst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hot-node20-slo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79" y="1920240"/>
            <a:ext cx="3886200" cy="227975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26480" y="5029200"/>
            <a:ext cx="3886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正式環境：Jetson AGX Thor的角色欄位</a:t>
            </a:r>
          </a:p>
        </p:txBody>
      </p:sp>
      <p:sp>
        <p:nvSpPr>
          <p:cNvPr id="12" name="goldline"/>
          <p:cNvSpPr/>
          <p:nvPr/>
        </p:nvSpPr>
        <p:spPr>
          <a:xfrm>
            <a:off x="621792" y="5614416"/>
            <a:ext cx="9509760" cy="493776"/>
          </a:xfrm>
          <a:prstGeom prst="roundRect">
            <a:avLst>
              <a:gd name="adj" fmla="val 14000"/>
            </a:avLst>
          </a:prstGeom>
          <a:solidFill>
            <a:srgbClr val="FB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5614416"/>
            <a:ext cx="909828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9C1218"/>
                </a:solidFill>
                <a:latin typeface="Microsoft JhengHei"/>
                <a:ea typeface="Microsoft JhengHei"/>
                <a:cs typeface="Microsoft JhengHei"/>
              </a:rPr>
              <a:t>卡在啟動中的服務，壓成「關」或「開」都會誤導判斷。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4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1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8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35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</p:bld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xh-title"/>
          <p:cNvSpPr txBox="1"/>
          <p:nvPr/>
        </p:nvSpPr>
        <p:spPr>
          <a:xfrm>
            <a:off x="2286000" y="384048"/>
            <a:ext cx="9326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換模型的流程：換一整份設定，打得通才算成功</a:t>
            </a:r>
          </a:p>
        </p:txBody>
      </p:sp>
      <p:sp>
        <p:nvSpPr>
          <p:cNvPr id="3" name="status"/>
          <p:cNvSpPr/>
          <p:nvPr/>
        </p:nvSpPr>
        <p:spPr>
          <a:xfrm>
            <a:off x="621792" y="1325880"/>
            <a:ext cx="1511046" cy="292608"/>
          </a:xfrm>
          <a:prstGeom prst="roundRect">
            <a:avLst>
              <a:gd name="adj" fmla="val 50000"/>
            </a:avLst>
          </a:prstGeom>
          <a:solidFill>
            <a:srgbClr val="3E8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325880"/>
            <a:ext cx="1511046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已實作且有測試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79142" y="1344168"/>
            <a:ext cx="922401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失敗自動還原：整合測試與正式環境都驗證過</a:t>
            </a:r>
          </a:p>
        </p:txBody>
      </p:sp>
      <p:sp>
        <p:nvSpPr>
          <p:cNvPr id="6" name="thead"/>
          <p:cNvSpPr/>
          <p:nvPr/>
        </p:nvSpPr>
        <p:spPr>
          <a:xfrm>
            <a:off x="621792" y="1783080"/>
            <a:ext cx="9509760" cy="310896"/>
          </a:xfrm>
          <a:prstGeom prst="roundRect">
            <a:avLst>
              <a:gd name="adj" fmla="val 12000"/>
            </a:avLst>
          </a:prstGeom>
          <a:solidFill>
            <a:srgbClr val="BF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420623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783080"/>
            <a:ext cx="2066543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動作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8999" y="1783080"/>
            <a:ext cx="6638544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細節</a:t>
            </a:r>
          </a:p>
        </p:txBody>
      </p:sp>
      <p:sp>
        <p:nvSpPr>
          <p:cNvPr id="10" name="zebra"/>
          <p:cNvSpPr/>
          <p:nvPr/>
        </p:nvSpPr>
        <p:spPr>
          <a:xfrm>
            <a:off x="621792" y="2121408"/>
            <a:ext cx="9509760" cy="539496"/>
          </a:xfrm>
          <a:prstGeom prst="rect">
            <a:avLst/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121408"/>
            <a:ext cx="420623" cy="539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121408"/>
            <a:ext cx="2066543" cy="539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只接受掃描清單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8999" y="2121408"/>
            <a:ext cx="6638544" cy="539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Strata要pack（含tokenizer）、權重與strata-&lt;名稱&gt;.json三樣齊；GGUF要分片齊全、檔頭讀得出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660903"/>
            <a:ext cx="420623" cy="539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2660903"/>
            <a:ext cx="2066543" cy="539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備份與組設定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8999" y="2660903"/>
            <a:ext cx="6638544" cy="539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以該模型自己的設定為底，只沿用跟機器有關的項目，以及跟著欄位走的金鑰、輸出上限、自訂名稱</a:t>
            </a:r>
          </a:p>
        </p:txBody>
      </p:sp>
      <p:sp>
        <p:nvSpPr>
          <p:cNvPr id="17" name="zebra"/>
          <p:cNvSpPr/>
          <p:nvPr/>
        </p:nvSpPr>
        <p:spPr>
          <a:xfrm>
            <a:off x="621792" y="3200399"/>
            <a:ext cx="9509760" cy="333756"/>
          </a:xfrm>
          <a:prstGeom prst="rect">
            <a:avLst/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200399"/>
            <a:ext cx="420623" cy="3337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3200399"/>
            <a:ext cx="2066543" cy="3337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准入試算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8999" y="3200399"/>
            <a:ext cx="6638544" cy="3337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用要換過去那顆的大小算，不沿用舊模型的估值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3534155"/>
            <a:ext cx="420623" cy="539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3534155"/>
            <a:ext cx="2066543" cy="539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重啟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28999" y="3534155"/>
            <a:ext cx="6638544" cy="539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reset-failed後restart；跨引擎時先停用舊服務並取消開機自啟，新服務設成開機自啟</a:t>
            </a:r>
          </a:p>
        </p:txBody>
      </p:sp>
      <p:sp>
        <p:nvSpPr>
          <p:cNvPr id="24" name="zebra"/>
          <p:cNvSpPr/>
          <p:nvPr/>
        </p:nvSpPr>
        <p:spPr>
          <a:xfrm>
            <a:off x="621792" y="4073651"/>
            <a:ext cx="9509760" cy="333756"/>
          </a:xfrm>
          <a:prstGeom prst="rect">
            <a:avLst/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4073651"/>
            <a:ext cx="420623" cy="3337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34440" y="4073651"/>
            <a:ext cx="2066543" cy="3337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驗證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28999" y="4073651"/>
            <a:ext cx="6638544" cy="3337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等埠回得出/v1/models且模型名稱在清單內（設了金鑰時401也算服務活著）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4407407"/>
            <a:ext cx="420623" cy="3337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34440" y="4407407"/>
            <a:ext cx="2066543" cy="3337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失敗還原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28999" y="4407407"/>
            <a:ext cx="6638544" cy="3337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寫回原設定、還原開機自啟狀態、重啟原服務並再驗一次；回報原因</a:t>
            </a:r>
          </a:p>
        </p:txBody>
      </p:sp>
      <p:sp>
        <p:nvSpPr>
          <p:cNvPr id="31" name="goldline"/>
          <p:cNvSpPr/>
          <p:nvPr/>
        </p:nvSpPr>
        <p:spPr>
          <a:xfrm>
            <a:off x="621792" y="5614416"/>
            <a:ext cx="9509760" cy="493776"/>
          </a:xfrm>
          <a:prstGeom prst="roundRect">
            <a:avLst>
              <a:gd name="adj" fmla="val 14000"/>
            </a:avLst>
          </a:prstGeom>
          <a:solidFill>
            <a:srgbClr val="FB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" y="5614416"/>
            <a:ext cx="909828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9C1218"/>
                </a:solidFill>
                <a:latin typeface="Microsoft JhengHei"/>
                <a:ea typeface="Microsoft JhengHei"/>
                <a:cs typeface="Microsoft JhengHei"/>
              </a:rPr>
              <a:t>判斷成功看的是模型真的回得出清單，不是指令有沒有回傳成功。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4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8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20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6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200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2400"/>
                            </p:stCondLst>
                            <p:childTnLst>
                              <p:par>
                                <p:cTn id="7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280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320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xh-title"/>
          <p:cNvSpPr txBox="1"/>
          <p:nvPr/>
        </p:nvSpPr>
        <p:spPr>
          <a:xfrm>
            <a:off x="2286000" y="384048"/>
            <a:ext cx="9326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llama.cpp引擎：代理替欄位產生設定與服務</a:t>
            </a:r>
          </a:p>
        </p:txBody>
      </p:sp>
      <p:sp>
        <p:nvSpPr>
          <p:cNvPr id="3" name="status"/>
          <p:cNvSpPr/>
          <p:nvPr/>
        </p:nvSpPr>
        <p:spPr>
          <a:xfrm>
            <a:off x="621792" y="1325880"/>
            <a:ext cx="1511046" cy="292608"/>
          </a:xfrm>
          <a:prstGeom prst="roundRect">
            <a:avLst>
              <a:gd name="adj" fmla="val 50000"/>
            </a:avLst>
          </a:prstGeom>
          <a:solidFill>
            <a:srgbClr val="3E8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325880"/>
            <a:ext cx="1511046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已實作且有測試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79142" y="1344168"/>
            <a:ext cx="922401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test_llama_engine.py 36項＋真機冒煙測試12項（真的llama-server）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783080"/>
            <a:ext cx="5486400" cy="9558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3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設定與服務　</a:t>
            </a:r>
            <a:r>
              <a:rPr sz="130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每個欄位一份~/.xconsole/engines/&lt;欄位&gt;-llama.json（0600）與xc-&lt;欄位&gt;-llama.service；服務的進入點是xconsole_agent.py --launch-llama，讀設定後exec成llama-server，不多一層程序。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2848660"/>
            <a:ext cx="5486400" cy="7260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3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選哪支llama-server　</a:t>
            </a:r>
            <a:r>
              <a:rPr sz="130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登錄檔machine.llama_server優先；否則挑家目錄下版本號最大、有GPU後端（HIP、CUDA、Vulkan）的那支。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3684422"/>
            <a:ext cx="5486400" cy="49621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3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機器專屬參數　</a:t>
            </a:r>
            <a:r>
              <a:rPr sz="130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需要額外參數或環境變數時寫在machine.llama_args與machine.llama_env，不改程式。</a:t>
            </a:r>
          </a:p>
        </p:txBody>
      </p:sp>
      <p:sp>
        <p:nvSpPr>
          <p:cNvPr id="9" name="panel"/>
          <p:cNvSpPr/>
          <p:nvPr/>
        </p:nvSpPr>
        <p:spPr>
          <a:xfrm>
            <a:off x="6355080" y="1783080"/>
            <a:ext cx="3776472" cy="3291840"/>
          </a:xfrm>
          <a:prstGeom prst="roundRect">
            <a:avLst>
              <a:gd name="adj" fmla="val 6000"/>
            </a:avLst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929384"/>
            <a:ext cx="341071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9C1218"/>
                </a:solidFill>
                <a:latin typeface="Microsoft JhengHei"/>
                <a:ea typeface="Microsoft JhengHei"/>
                <a:cs typeface="Microsoft JhengHei"/>
              </a:rPr>
              <a:t>固定帶上的參數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258568"/>
            <a:ext cx="3410712" cy="23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-c上下文×並行、-np並行、-ngl 999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545080"/>
            <a:ext cx="3410712" cy="23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--alias欄位的模型名稱、--jinja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831592"/>
            <a:ext cx="3410712" cy="445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--no-mmap：統一記憶體機開mmap會多吃一份頁快取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3331464"/>
            <a:ext cx="3410712" cy="445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--api-key-file：金鑰用檔案交給引擎，不放在指令列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3831336"/>
            <a:ext cx="3410712" cy="23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-n單次輸出上限（有設才帶）</a:t>
            </a:r>
          </a:p>
        </p:txBody>
      </p:sp>
      <p:sp>
        <p:nvSpPr>
          <p:cNvPr id="16" name="goldline"/>
          <p:cNvSpPr/>
          <p:nvPr/>
        </p:nvSpPr>
        <p:spPr>
          <a:xfrm>
            <a:off x="621792" y="5614416"/>
            <a:ext cx="9509760" cy="493776"/>
          </a:xfrm>
          <a:prstGeom prst="roundRect">
            <a:avLst>
              <a:gd name="adj" fmla="val 14000"/>
            </a:avLst>
          </a:prstGeom>
          <a:solidFill>
            <a:srgbClr val="FB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5614416"/>
            <a:ext cx="909828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9C1218"/>
                </a:solidFill>
                <a:latin typeface="Microsoft JhengHei"/>
                <a:ea typeface="Microsoft JhengHei"/>
                <a:cs typeface="Microsoft JhengHei"/>
              </a:rPr>
              <a:t>金鑰在檔案裡，ps看不到。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4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1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8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350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xh-title"/>
          <p:cNvSpPr txBox="1"/>
          <p:nvPr/>
        </p:nvSpPr>
        <p:spPr>
          <a:xfrm>
            <a:off x="2286000" y="384048"/>
            <a:ext cx="9326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跨引擎切換：同一個欄位、同一個埠，IDE網址不用改</a:t>
            </a:r>
          </a:p>
        </p:txBody>
      </p:sp>
      <p:sp>
        <p:nvSpPr>
          <p:cNvPr id="3" name="status"/>
          <p:cNvSpPr/>
          <p:nvPr/>
        </p:nvSpPr>
        <p:spPr>
          <a:xfrm>
            <a:off x="621792" y="1325880"/>
            <a:ext cx="1511046" cy="292608"/>
          </a:xfrm>
          <a:prstGeom prst="roundRect">
            <a:avLst>
              <a:gd name="adj" fmla="val 50000"/>
            </a:avLst>
          </a:prstGeom>
          <a:solidFill>
            <a:srgbClr val="3E8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325880"/>
            <a:ext cx="1511046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已實作且有測試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79142" y="1344168"/>
            <a:ext cx="922401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Strata→GGUF、GGUF→GGUF、GGUF→Strata、壞模型還原都有測試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783080"/>
            <a:ext cx="9509760" cy="49621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3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切過去　</a:t>
            </a:r>
            <a:r>
              <a:rPr sz="130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Strata→llama.cpp：停掉Strata服務並取消開機自啟，llama.cpp服務接手同一個埠並設成開機自啟；Strata的服務與設定記在欄位的engines裡，之後切得回來。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2389022"/>
            <a:ext cx="9509760" cy="49621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3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跟著欄位走　</a:t>
            </a:r>
            <a:r>
              <a:rPr sz="130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API金鑰、單次輸出上限、使用者自訂的模型名稱都隨欄位帶過去；llama.cpp那邊清掉的輸出上限，切回Strata時也一併清掉。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2994964"/>
            <a:ext cx="9509760" cy="2663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3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能力標籤　</a:t>
            </a:r>
            <a:r>
              <a:rPr sz="130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「看圖」依新模型是否帶mmproj重算，不沿用上一顆。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3371088"/>
            <a:ext cx="9509760" cy="2663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3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失敗　</a:t>
            </a:r>
            <a:r>
              <a:rPr sz="130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任何一步失敗就整組還原：引擎、服務的開機自啟與開關狀態、設定檔、金鑰檔都回到原樣。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747211"/>
            <a:ext cx="9509760" cy="2663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3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限制　</a:t>
            </a:r>
            <a:r>
              <a:rPr sz="130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96 GiB的AI 395裝不下兩顆大模型，跨引擎時無法先在別的埠驗證再切，必須先停舊的釋放記憶體。</a:t>
            </a:r>
          </a:p>
        </p:txBody>
      </p:sp>
      <p:sp>
        <p:nvSpPr>
          <p:cNvPr id="11" name="goldline"/>
          <p:cNvSpPr/>
          <p:nvPr/>
        </p:nvSpPr>
        <p:spPr>
          <a:xfrm>
            <a:off x="621792" y="5614416"/>
            <a:ext cx="9509760" cy="493776"/>
          </a:xfrm>
          <a:prstGeom prst="roundRect">
            <a:avLst>
              <a:gd name="adj" fmla="val 14000"/>
            </a:avLst>
          </a:prstGeom>
          <a:solidFill>
            <a:srgbClr val="FB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5614416"/>
            <a:ext cx="909828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9C1218"/>
                </a:solidFill>
                <a:latin typeface="Microsoft JhengHei"/>
                <a:ea typeface="Microsoft JhengHei"/>
                <a:cs typeface="Microsoft JhengHei"/>
              </a:rPr>
              <a:t>開機自啟一起換，不然重開機後兩個引擎會搶同一個埠。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4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8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6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4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xh-title"/>
          <p:cNvSpPr txBox="1"/>
          <p:nvPr/>
        </p:nvSpPr>
        <p:spPr>
          <a:xfrm>
            <a:off x="2286000" y="384048"/>
            <a:ext cx="9326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模型庫：存放規則、下載與刪除</a:t>
            </a:r>
          </a:p>
        </p:txBody>
      </p:sp>
      <p:sp>
        <p:nvSpPr>
          <p:cNvPr id="3" name="status"/>
          <p:cNvSpPr/>
          <p:nvPr/>
        </p:nvSpPr>
        <p:spPr>
          <a:xfrm>
            <a:off x="621792" y="1325880"/>
            <a:ext cx="1511046" cy="292608"/>
          </a:xfrm>
          <a:prstGeom prst="roundRect">
            <a:avLst>
              <a:gd name="adj" fmla="val 50000"/>
            </a:avLst>
          </a:prstGeom>
          <a:solidFill>
            <a:srgbClr val="3E8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325880"/>
            <a:ext cx="1511046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已實作且有測試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79142" y="1344168"/>
            <a:ext cx="922401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假Hugging Face整合測試＋真Hugging Face冒煙測試（105 MB約6秒下載完）</a:t>
            </a:r>
          </a:p>
        </p:txBody>
      </p:sp>
      <p:sp>
        <p:nvSpPr>
          <p:cNvPr id="6" name="thead"/>
          <p:cNvSpPr/>
          <p:nvPr/>
        </p:nvSpPr>
        <p:spPr>
          <a:xfrm>
            <a:off x="621792" y="1783080"/>
            <a:ext cx="9509760" cy="310896"/>
          </a:xfrm>
          <a:prstGeom prst="roundRect">
            <a:avLst>
              <a:gd name="adj" fmla="val 12000"/>
            </a:avLst>
          </a:prstGeom>
          <a:solidFill>
            <a:srgbClr val="BF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700784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項目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14600" y="1783080"/>
            <a:ext cx="7552944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做法</a:t>
            </a:r>
          </a:p>
        </p:txBody>
      </p:sp>
      <p:sp>
        <p:nvSpPr>
          <p:cNvPr id="9" name="zebra"/>
          <p:cNvSpPr/>
          <p:nvPr/>
        </p:nvSpPr>
        <p:spPr>
          <a:xfrm>
            <a:off x="621792" y="2121408"/>
            <a:ext cx="9509760" cy="539496"/>
          </a:xfrm>
          <a:prstGeom prst="rect">
            <a:avLst/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121408"/>
            <a:ext cx="1700784" cy="539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存放規則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4600" y="2121408"/>
            <a:ext cx="7552944" cy="539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&lt;存放區&gt;/&lt;資料夾&gt;/&lt;模型&gt;.gguf；預設~/models/gguf，可由machine.gguf_root改到別顆碟；分片齊才列入，mmproj放同資料夾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660903"/>
            <a:ext cx="1700784" cy="3337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多個量化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4600" y="2660903"/>
            <a:ext cx="7552944" cy="3337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同一資料夾的多個量化各算一顆；分片不齊或檔頭讀不到的，清單會寫出原因</a:t>
            </a:r>
          </a:p>
        </p:txBody>
      </p:sp>
      <p:sp>
        <p:nvSpPr>
          <p:cNvPr id="14" name="zebra"/>
          <p:cNvSpPr/>
          <p:nvPr/>
        </p:nvSpPr>
        <p:spPr>
          <a:xfrm>
            <a:off x="621792" y="2994659"/>
            <a:ext cx="9509760" cy="333756"/>
          </a:xfrm>
          <a:prstGeom prst="rect">
            <a:avLst/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994659"/>
            <a:ext cx="1700784" cy="3337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下載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14600" y="2994659"/>
            <a:ext cx="7552944" cy="3337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列出repo的GGUF並依量化分組；推測解碼用的輔助檔標出並排到最後；一次只下載一個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328415"/>
            <a:ext cx="1700784" cy="3337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續傳與核對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14600" y="3328415"/>
            <a:ext cx="7552944" cy="3337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8 MB分段寫入.part，中斷後以Range接續，大小核對才改名；資料夾名稱為「作者--模型」</a:t>
            </a:r>
          </a:p>
        </p:txBody>
      </p:sp>
      <p:sp>
        <p:nvSpPr>
          <p:cNvPr id="19" name="zebra"/>
          <p:cNvSpPr/>
          <p:nvPr/>
        </p:nvSpPr>
        <p:spPr>
          <a:xfrm>
            <a:off x="621792" y="3662172"/>
            <a:ext cx="9509760" cy="539496"/>
          </a:xfrm>
          <a:prstGeom prst="rect">
            <a:avLst/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662172"/>
            <a:ext cx="1700784" cy="539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權杖與磁碟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14600" y="3662172"/>
            <a:ext cx="7552944" cy="539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Hugging Face權杖只在下載期間放在記憶體，不寫任何檔案；下載前檢查剩餘空間並保留10 GiB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201668"/>
            <a:ext cx="1700784" cy="3337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刪除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14600" y="4201668"/>
            <a:ext cx="7552944" cy="3337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只刪存放區第一層資料夾內的GGUF；有欄位正在使用的不准刪；Strata家族不從這裡刪</a:t>
            </a:r>
          </a:p>
        </p:txBody>
      </p:sp>
      <p:sp>
        <p:nvSpPr>
          <p:cNvPr id="24" name="zebra"/>
          <p:cNvSpPr/>
          <p:nvPr/>
        </p:nvSpPr>
        <p:spPr>
          <a:xfrm>
            <a:off x="621792" y="4535424"/>
            <a:ext cx="9509760" cy="539496"/>
          </a:xfrm>
          <a:prstGeom prst="rect">
            <a:avLst/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4535424"/>
            <a:ext cx="1700784" cy="539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中國來源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14600" y="4535424"/>
            <a:ext cx="7552944" cy="539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架構或名稱含qwen、deepseek、glm、kimi、minimax、hunyuan、internlm、baichuan、doubao、ernie等即標示</a:t>
            </a:r>
          </a:p>
        </p:txBody>
      </p:sp>
      <p:sp>
        <p:nvSpPr>
          <p:cNvPr id="27" name="goldline"/>
          <p:cNvSpPr/>
          <p:nvPr/>
        </p:nvSpPr>
        <p:spPr>
          <a:xfrm>
            <a:off x="621792" y="5614416"/>
            <a:ext cx="9509760" cy="493776"/>
          </a:xfrm>
          <a:prstGeom prst="roundRect">
            <a:avLst>
              <a:gd name="adj" fmla="val 14000"/>
            </a:avLst>
          </a:prstGeom>
          <a:solidFill>
            <a:srgbClr val="FB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" y="5614416"/>
            <a:ext cx="909828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9C1218"/>
                </a:solidFill>
                <a:latin typeface="Microsoft JhengHei"/>
                <a:ea typeface="Microsoft JhengHei"/>
                <a:cs typeface="Microsoft JhengHei"/>
              </a:rPr>
              <a:t>放錯位置的模型，清單會寫出缺什麼，不會默默消失。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4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8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2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6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00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240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2800"/>
                            </p:stCondLst>
                            <p:childTnLst>
                              <p:par>
                                <p:cTn id="6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3200"/>
                            </p:stCondLst>
                            <p:childTnLst>
                              <p:par>
                                <p:cTn id="7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3600"/>
                            </p:stCondLst>
                            <p:childTnLst>
                              <p:par>
                                <p:cTn id="8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xh-title"/>
          <p:cNvSpPr txBox="1"/>
          <p:nvPr/>
        </p:nvSpPr>
        <p:spPr>
          <a:xfrm>
            <a:off x="2286000" y="384048"/>
            <a:ext cx="9326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API串接：設定、驗證、範例與實測</a:t>
            </a:r>
          </a:p>
        </p:txBody>
      </p:sp>
      <p:sp>
        <p:nvSpPr>
          <p:cNvPr id="3" name="status"/>
          <p:cNvSpPr/>
          <p:nvPr/>
        </p:nvSpPr>
        <p:spPr>
          <a:xfrm>
            <a:off x="621792" y="1325880"/>
            <a:ext cx="1511046" cy="292608"/>
          </a:xfrm>
          <a:prstGeom prst="roundRect">
            <a:avLst>
              <a:gd name="adj" fmla="val 50000"/>
            </a:avLst>
          </a:prstGeom>
          <a:solidFill>
            <a:srgbClr val="3E8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325880"/>
            <a:ext cx="1511046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已實作且有測試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79142" y="1344168"/>
            <a:ext cx="922401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test_api_integration.py 23項；正式環境實測對話約1.5秒、工具呼叫約2.3秒</a:t>
            </a:r>
          </a:p>
        </p:txBody>
      </p:sp>
      <p:sp>
        <p:nvSpPr>
          <p:cNvPr id="6" name="thead"/>
          <p:cNvSpPr/>
          <p:nvPr/>
        </p:nvSpPr>
        <p:spPr>
          <a:xfrm>
            <a:off x="621792" y="1783080"/>
            <a:ext cx="9509760" cy="310896"/>
          </a:xfrm>
          <a:prstGeom prst="roundRect">
            <a:avLst>
              <a:gd name="adj" fmla="val 12000"/>
            </a:avLst>
          </a:prstGeom>
          <a:solidFill>
            <a:srgbClr val="BF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700784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項目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14600" y="1783080"/>
            <a:ext cx="7552944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做法</a:t>
            </a:r>
          </a:p>
        </p:txBody>
      </p:sp>
      <p:sp>
        <p:nvSpPr>
          <p:cNvPr id="9" name="zebra"/>
          <p:cNvSpPr/>
          <p:nvPr/>
        </p:nvSpPr>
        <p:spPr>
          <a:xfrm>
            <a:off x="621792" y="2121408"/>
            <a:ext cx="9509760" cy="333756"/>
          </a:xfrm>
          <a:prstGeom prst="rect">
            <a:avLst/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121408"/>
            <a:ext cx="1700784" cy="3337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可改的設定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4600" y="2121408"/>
            <a:ext cx="7552944" cy="3337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對外網址（不重啟）；模型名稱、上下文、單次輸出上限、金鑰（重啟後驗證，失敗換回）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455163"/>
            <a:ext cx="1700784" cy="539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輸入驗證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4600" y="2455163"/>
            <a:ext cx="7552944" cy="539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名稱限英數與._-:/且1～80字；網址限http(s)；上下文2,048～1,048,576；輸出上限要小於上下文</a:t>
            </a:r>
          </a:p>
        </p:txBody>
      </p:sp>
      <p:sp>
        <p:nvSpPr>
          <p:cNvPr id="14" name="zebra"/>
          <p:cNvSpPr/>
          <p:nvPr/>
        </p:nvSpPr>
        <p:spPr>
          <a:xfrm>
            <a:off x="621792" y="2994659"/>
            <a:ext cx="9509760" cy="333756"/>
          </a:xfrm>
          <a:prstGeom prst="rect">
            <a:avLst/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994659"/>
            <a:ext cx="1700784" cy="3337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金鑰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14600" y="2994659"/>
            <a:ext cx="7552944" cy="3337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256位元隨機值，只在產生的回應裡出現一次；套用後實際驗證「沒帶金鑰打對話端點回401」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328415"/>
            <a:ext cx="1700784" cy="539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範例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14600" y="3328415"/>
            <a:ext cx="7552944" cy="539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依目前設定產生8種：VS Code Copilot、其他IDE、OpenCode、Continue、Cline、Claude Code、curl、Python</a:t>
            </a:r>
          </a:p>
        </p:txBody>
      </p:sp>
      <p:sp>
        <p:nvSpPr>
          <p:cNvPr id="19" name="zebra"/>
          <p:cNvSpPr/>
          <p:nvPr/>
        </p:nvSpPr>
        <p:spPr>
          <a:xfrm>
            <a:off x="621792" y="3867911"/>
            <a:ext cx="9509760" cy="333756"/>
          </a:xfrm>
          <a:prstGeom prst="rect">
            <a:avLst/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867911"/>
            <a:ext cx="1700784" cy="3337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本機實測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14600" y="3867911"/>
            <a:ext cx="7552944" cy="3337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模型清單、沒帶金鑰被擋、一般對話、工具呼叫（給一個查時間的假工具，看模型有沒有呼叫）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201668"/>
            <a:ext cx="1700784" cy="3337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經網路實測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14600" y="4201668"/>
            <a:ext cx="7552944" cy="3337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從主控台打對外網址，不跟轉址；有金鑰時改打需要金鑰的對話端點驗證</a:t>
            </a:r>
          </a:p>
        </p:txBody>
      </p:sp>
      <p:sp>
        <p:nvSpPr>
          <p:cNvPr id="24" name="goldline"/>
          <p:cNvSpPr/>
          <p:nvPr/>
        </p:nvSpPr>
        <p:spPr>
          <a:xfrm>
            <a:off x="621792" y="5614416"/>
            <a:ext cx="9509760" cy="493776"/>
          </a:xfrm>
          <a:prstGeom prst="roundRect">
            <a:avLst>
              <a:gd name="adj" fmla="val 14000"/>
            </a:avLst>
          </a:prstGeom>
          <a:solidFill>
            <a:srgbClr val="FB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" y="5614416"/>
            <a:ext cx="909828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9C1218"/>
                </a:solidFill>
                <a:latin typeface="Microsoft JhengHei"/>
                <a:ea typeface="Microsoft JhengHei"/>
                <a:cs typeface="Microsoft JhengHei"/>
              </a:rPr>
              <a:t>llama.cpp的模型清單本來就公開，驗金鑰一定要打對話端點。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4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8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2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6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00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240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2800"/>
                            </p:stCondLst>
                            <p:childTnLst>
                              <p:par>
                                <p:cTn id="6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3200"/>
                            </p:stCondLst>
                            <p:childTnLst>
                              <p:par>
                                <p:cTn id="7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xh-title"/>
          <p:cNvSpPr txBox="1"/>
          <p:nvPr/>
        </p:nvSpPr>
        <p:spPr>
          <a:xfrm>
            <a:off x="2286000" y="384048"/>
            <a:ext cx="9326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情境切換與記錄檢視</a:t>
            </a:r>
          </a:p>
        </p:txBody>
      </p:sp>
      <p:sp>
        <p:nvSpPr>
          <p:cNvPr id="3" name="status"/>
          <p:cNvSpPr/>
          <p:nvPr/>
        </p:nvSpPr>
        <p:spPr>
          <a:xfrm>
            <a:off x="621792" y="1325880"/>
            <a:ext cx="1511046" cy="292608"/>
          </a:xfrm>
          <a:prstGeom prst="roundRect">
            <a:avLst>
              <a:gd name="adj" fmla="val 50000"/>
            </a:avLst>
          </a:prstGeom>
          <a:solidFill>
            <a:srgbClr val="3E8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325880"/>
            <a:ext cx="1511046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已實作且有測試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79142" y="1344168"/>
            <a:ext cx="922401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寫程式後端、抓料清洗兩個情境在AI 395上使用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783080"/>
            <a:ext cx="950976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情境　</a:t>
            </a:r>
            <a:r>
              <a:rPr sz="130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同一顆模型用途不同時參數不同：寫程式的用戶端一輪送四萬token以上，要長上下文；抓料清洗每段只有幾千token，把並行讓出來換吞吐。情境寫在登錄檔profiles，切換時先備份設定、寫入參數、重啟，失敗還原上一版。情境只套用在Strata欄位，llama.cpp欄位會略過並說明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2679191"/>
            <a:ext cx="950976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記錄　</a:t>
            </a:r>
            <a:r>
              <a:rPr sz="130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選一台機器、一個服務，直接看systemd記錄與引擎自己的記錄檔；區塊固定高度在區塊內捲動，不讓頁面無限延長。</a:t>
            </a:r>
          </a:p>
        </p:txBody>
      </p:sp>
      <p:sp>
        <p:nvSpPr>
          <p:cNvPr id="8" name="thead"/>
          <p:cNvSpPr/>
          <p:nvPr/>
        </p:nvSpPr>
        <p:spPr>
          <a:xfrm>
            <a:off x="621792" y="3886200"/>
            <a:ext cx="9509760" cy="310896"/>
          </a:xfrm>
          <a:prstGeom prst="roundRect">
            <a:avLst>
              <a:gd name="adj" fmla="val 12000"/>
            </a:avLst>
          </a:prstGeom>
          <a:solidFill>
            <a:srgbClr val="BF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3886200"/>
            <a:ext cx="2066543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情境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3886200"/>
            <a:ext cx="1883664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上下文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3886200"/>
            <a:ext cx="1335024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並行數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3886200"/>
            <a:ext cx="3712464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用途</a:t>
            </a:r>
          </a:p>
        </p:txBody>
      </p:sp>
      <p:sp>
        <p:nvSpPr>
          <p:cNvPr id="13" name="zebra"/>
          <p:cNvSpPr/>
          <p:nvPr/>
        </p:nvSpPr>
        <p:spPr>
          <a:xfrm>
            <a:off x="621792" y="4224528"/>
            <a:ext cx="9509760" cy="333756"/>
          </a:xfrm>
          <a:prstGeom prst="rect">
            <a:avLst/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224528"/>
            <a:ext cx="2066543" cy="3337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寫程式後端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360" y="4224528"/>
            <a:ext cx="1883664" cy="3337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131,072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2040" y="4224528"/>
            <a:ext cx="1335024" cy="3337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4224528"/>
            <a:ext cx="3712464" cy="3337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GitHub Copilot等一次送大量程式碼脈絡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558284"/>
            <a:ext cx="2066543" cy="3337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抓料清洗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80360" y="4558284"/>
            <a:ext cx="1883664" cy="3337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32,768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92040" y="4558284"/>
            <a:ext cx="1335024" cy="3337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4558284"/>
            <a:ext cx="3712464" cy="3337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網頁抓取後的資料清洗，每段提示較短</a:t>
            </a:r>
          </a:p>
        </p:txBody>
      </p:sp>
      <p:sp>
        <p:nvSpPr>
          <p:cNvPr id="22" name="goldline"/>
          <p:cNvSpPr/>
          <p:nvPr/>
        </p:nvSpPr>
        <p:spPr>
          <a:xfrm>
            <a:off x="621792" y="5614416"/>
            <a:ext cx="9509760" cy="493776"/>
          </a:xfrm>
          <a:prstGeom prst="roundRect">
            <a:avLst>
              <a:gd name="adj" fmla="val 14000"/>
            </a:avLst>
          </a:prstGeom>
          <a:solidFill>
            <a:srgbClr val="FB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" y="5614416"/>
            <a:ext cx="909828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9C1218"/>
                </a:solidFill>
                <a:latin typeface="Microsoft JhengHei"/>
                <a:ea typeface="Microsoft JhengHei"/>
                <a:cs typeface="Microsoft JhengHei"/>
              </a:rPr>
              <a:t>情境是一組參數，切換是一個按鈕，失敗是自動還原。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4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8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2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6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20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2400"/>
                            </p:stCondLst>
                            <p:childTnLst>
                              <p:par>
                                <p:cTn id="6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xh-title"/>
          <p:cNvSpPr txBox="1"/>
          <p:nvPr/>
        </p:nvSpPr>
        <p:spPr>
          <a:xfrm>
            <a:off x="2286000" y="384048"/>
            <a:ext cx="9326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安全架構：逐層的做法</a:t>
            </a:r>
          </a:p>
        </p:txBody>
      </p:sp>
      <p:sp>
        <p:nvSpPr>
          <p:cNvPr id="3" name="xh-title"/>
          <p:cNvSpPr txBox="1"/>
          <p:nvPr/>
        </p:nvSpPr>
        <p:spPr>
          <a:xfrm>
            <a:off x="2286000" y="932688"/>
            <a:ext cx="93268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以資通系統防護基準中級、OWASP ASVS L2為基準</a:t>
            </a:r>
          </a:p>
        </p:txBody>
      </p:sp>
      <p:sp>
        <p:nvSpPr>
          <p:cNvPr id="4" name="thead"/>
          <p:cNvSpPr/>
          <p:nvPr/>
        </p:nvSpPr>
        <p:spPr>
          <a:xfrm>
            <a:off x="621792" y="1371600"/>
            <a:ext cx="9509760" cy="310896"/>
          </a:xfrm>
          <a:prstGeom prst="roundRect">
            <a:avLst>
              <a:gd name="adj" fmla="val 12000"/>
            </a:avLst>
          </a:prstGeom>
          <a:solidFill>
            <a:srgbClr val="BF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1517904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層面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31720" y="1371600"/>
            <a:ext cx="5724144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做法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83880" y="1371600"/>
            <a:ext cx="1883664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測試</a:t>
            </a:r>
          </a:p>
        </p:txBody>
      </p:sp>
      <p:sp>
        <p:nvSpPr>
          <p:cNvPr id="8" name="zebra"/>
          <p:cNvSpPr/>
          <p:nvPr/>
        </p:nvSpPr>
        <p:spPr>
          <a:xfrm>
            <a:off x="621792" y="1709928"/>
            <a:ext cx="9509760" cy="539496"/>
          </a:xfrm>
          <a:prstGeom prst="rect">
            <a:avLst/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709928"/>
            <a:ext cx="1517904" cy="539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傳輸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1709928"/>
            <a:ext cx="5724144" cy="539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只提供HTTPS（TLS 1.2以上），http打到同埠回308；主控台連代理也走HTTPS並驗證對方憑證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80" y="1709928"/>
            <a:ext cx="1883664" cy="539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安全測試第8節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249424"/>
            <a:ext cx="1517904" cy="539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認證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1720" y="2249424"/>
            <a:ext cx="5724144" cy="539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PBKDF2-SHA256 200,000輪加鹽；同一來源15分鐘錯5次、全部來源錯50次即擋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80" y="2249424"/>
            <a:ext cx="1883664" cy="539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安全測試第9節</a:t>
            </a:r>
          </a:p>
        </p:txBody>
      </p:sp>
      <p:sp>
        <p:nvSpPr>
          <p:cNvPr id="15" name="zebra"/>
          <p:cNvSpPr/>
          <p:nvPr/>
        </p:nvSpPr>
        <p:spPr>
          <a:xfrm>
            <a:off x="621792" y="2788920"/>
            <a:ext cx="9509760" cy="539496"/>
          </a:xfrm>
          <a:prstGeom prst="rect">
            <a:avLst/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788920"/>
            <a:ext cx="1517904" cy="539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會話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31720" y="2788920"/>
            <a:ext cx="5724144" cy="539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伺服器端票證、資料庫只存SHA-256；HttpOnly、Secure、SameSite=Strict；12小時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80" y="2788920"/>
            <a:ext cx="1883664" cy="539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安全測試第2節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328415"/>
            <a:ext cx="1517904" cy="3337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授權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31720" y="3328415"/>
            <a:ext cx="5724144" cy="3337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所有/api預設要登入；機器與欄位id只能指到登錄檔內的項目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80" y="3328415"/>
            <a:ext cx="1883664" cy="3337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安全測試第1、4節</a:t>
            </a:r>
          </a:p>
        </p:txBody>
      </p:sp>
      <p:sp>
        <p:nvSpPr>
          <p:cNvPr id="22" name="zebra"/>
          <p:cNvSpPr/>
          <p:nvPr/>
        </p:nvSpPr>
        <p:spPr>
          <a:xfrm>
            <a:off x="621792" y="3662172"/>
            <a:ext cx="9509760" cy="539496"/>
          </a:xfrm>
          <a:prstGeom prst="rect">
            <a:avLst/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3662172"/>
            <a:ext cx="1517904" cy="539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輸入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31720" y="3662172"/>
            <a:ext cx="5724144" cy="539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POST只收JSON（擋跨站表單）；6 MB上限，超過立即413；路徑一律限定在目錄內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83880" y="3662172"/>
            <a:ext cx="1883664" cy="539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安全測試第3、5節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4201668"/>
            <a:ext cx="1517904" cy="539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輸出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1720" y="4201668"/>
            <a:ext cx="5724144" cy="539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統一錯誤處理不回堆疊；CSP無unsafe-inline，另送COOP、COEP、CORP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83880" y="4201668"/>
            <a:ext cx="1883664" cy="539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安全測試第7節</a:t>
            </a:r>
          </a:p>
        </p:txBody>
      </p:sp>
      <p:sp>
        <p:nvSpPr>
          <p:cNvPr id="29" name="zebra"/>
          <p:cNvSpPr/>
          <p:nvPr/>
        </p:nvSpPr>
        <p:spPr>
          <a:xfrm>
            <a:off x="621792" y="4741164"/>
            <a:ext cx="9509760" cy="539496"/>
          </a:xfrm>
          <a:prstGeom prst="rect">
            <a:avLst/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4741164"/>
            <a:ext cx="1517904" cy="539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機密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31720" y="4741164"/>
            <a:ext cx="5724144" cy="539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代理權杖AES-256-GCM加密存放；模型金鑰只顯示一次；稽核寫入前遮罩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83880" y="4741164"/>
            <a:ext cx="1883664" cy="539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安全測試第10節</a:t>
            </a:r>
          </a:p>
        </p:txBody>
      </p:sp>
      <p:sp>
        <p:nvSpPr>
          <p:cNvPr id="33" name="goldline"/>
          <p:cNvSpPr/>
          <p:nvPr/>
        </p:nvSpPr>
        <p:spPr>
          <a:xfrm>
            <a:off x="621792" y="5614416"/>
            <a:ext cx="9509760" cy="493776"/>
          </a:xfrm>
          <a:prstGeom prst="roundRect">
            <a:avLst>
              <a:gd name="adj" fmla="val 14000"/>
            </a:avLst>
          </a:prstGeom>
          <a:solidFill>
            <a:srgbClr val="FB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8" y="5614416"/>
            <a:ext cx="909828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9C1218"/>
                </a:solidFill>
                <a:latin typeface="Microsoft JhengHei"/>
                <a:ea typeface="Microsoft JhengHei"/>
                <a:cs typeface="Microsoft JhengHei"/>
              </a:rPr>
              <a:t>每一層都有對應的測試，CI每次修改都重跑。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8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20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60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200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240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280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3200"/>
                            </p:stCondLst>
                            <p:childTnLst>
                              <p:par>
                                <p:cTn id="9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</p:bld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xh-title"/>
          <p:cNvSpPr txBox="1"/>
          <p:nvPr/>
        </p:nvSpPr>
        <p:spPr>
          <a:xfrm>
            <a:off x="2286000" y="384048"/>
            <a:ext cx="9326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認證與會話：被偷的票證、猜密碼、跨站請求</a:t>
            </a:r>
          </a:p>
        </p:txBody>
      </p:sp>
      <p:sp>
        <p:nvSpPr>
          <p:cNvPr id="3" name="status"/>
          <p:cNvSpPr/>
          <p:nvPr/>
        </p:nvSpPr>
        <p:spPr>
          <a:xfrm>
            <a:off x="621792" y="1325880"/>
            <a:ext cx="1511046" cy="292608"/>
          </a:xfrm>
          <a:prstGeom prst="roundRect">
            <a:avLst>
              <a:gd name="adj" fmla="val 50000"/>
            </a:avLst>
          </a:prstGeom>
          <a:solidFill>
            <a:srgbClr val="3E8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325880"/>
            <a:ext cx="1511046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已實作且有測試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79142" y="1344168"/>
            <a:ext cx="922401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安全測試在修正前抓到keep-alive身分沿用問題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783080"/>
            <a:ext cx="9509760" cy="49621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3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伺服器端票證　</a:t>
            </a:r>
            <a:r>
              <a:rPr sz="130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以前是無狀態簽章票證，登出只清瀏覽器cookie，被偷走的票證12小時內照樣能用；現在票證記在伺服器端，登出、換密碼即作廢，資料庫只存雜湊。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2389022"/>
            <a:ext cx="9509760" cy="49621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3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節流　</a:t>
            </a:r>
            <a:r>
              <a:rPr sz="130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同一來源15分鐘內錯5次就回429，被擋期間連正確密碼也不放行，讓暴力猜測無從判斷是否猜中；不鎖帳號，避免內網任何人都能把管理者鎖在門外。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2994964"/>
            <a:ext cx="9509760" cy="49621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3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跨站請求　</a:t>
            </a:r>
            <a:r>
              <a:rPr sz="130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SameSite=Strict，另外POST一律只收application/json；跨站的表單只能送urlencoded、multipart與text/plain，送不進來。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3600907"/>
            <a:ext cx="9509760" cy="49621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3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keep-alive　</a:t>
            </a:r>
            <a:r>
              <a:rPr sz="130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同一條連線上的多個請求共用同一個處理物件，身分快取曾被下一個請求沿用：登出後在同一條連線上仍是登入狀態。現在每個請求開始時清掉，並有測試守著。</a:t>
            </a:r>
          </a:p>
        </p:txBody>
      </p:sp>
      <p:sp>
        <p:nvSpPr>
          <p:cNvPr id="10" name="goldline"/>
          <p:cNvSpPr/>
          <p:nvPr/>
        </p:nvSpPr>
        <p:spPr>
          <a:xfrm>
            <a:off x="621792" y="5614416"/>
            <a:ext cx="9509760" cy="493776"/>
          </a:xfrm>
          <a:prstGeom prst="roundRect">
            <a:avLst>
              <a:gd name="adj" fmla="val 14000"/>
            </a:avLst>
          </a:prstGeom>
          <a:solidFill>
            <a:srgbClr val="FB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5614416"/>
            <a:ext cx="909828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9C1218"/>
                </a:solidFill>
                <a:latin typeface="Microsoft JhengHei"/>
                <a:ea typeface="Microsoft JhengHei"/>
                <a:cs typeface="Microsoft JhengHei"/>
              </a:rPr>
              <a:t>這個漏洞是自己寫的攻擊式測試抓到的，修正前先確認測試會失敗。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4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1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8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5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xh-title"/>
          <p:cNvSpPr txBox="1"/>
          <p:nvPr/>
        </p:nvSpPr>
        <p:spPr>
          <a:xfrm>
            <a:off x="2286000" y="384048"/>
            <a:ext cx="9326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主控台與節點代理之間的信任</a:t>
            </a:r>
          </a:p>
        </p:txBody>
      </p:sp>
      <p:sp>
        <p:nvSpPr>
          <p:cNvPr id="3" name="status"/>
          <p:cNvSpPr/>
          <p:nvPr/>
        </p:nvSpPr>
        <p:spPr>
          <a:xfrm>
            <a:off x="621792" y="1325880"/>
            <a:ext cx="1511046" cy="292608"/>
          </a:xfrm>
          <a:prstGeom prst="roundRect">
            <a:avLst>
              <a:gd name="adj" fmla="val 50000"/>
            </a:avLst>
          </a:prstGeom>
          <a:solidFill>
            <a:srgbClr val="3E8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325880"/>
            <a:ext cx="1511046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已實作且有測試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79142" y="1344168"/>
            <a:ext cx="922401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沒有對方憑證就不連，不退回不驗證或明文</a:t>
            </a:r>
          </a:p>
        </p:txBody>
      </p:sp>
      <p:sp>
        <p:nvSpPr>
          <p:cNvPr id="6" name="status"/>
          <p:cNvSpPr/>
          <p:nvPr/>
        </p:nvSpPr>
        <p:spPr>
          <a:xfrm>
            <a:off x="621792" y="1709928"/>
            <a:ext cx="825246" cy="292608"/>
          </a:xfrm>
          <a:prstGeom prst="roundRect">
            <a:avLst>
              <a:gd name="adj" fmla="val 50000"/>
            </a:avLst>
          </a:prstGeom>
          <a:solidFill>
            <a:srgbClr val="D9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709928"/>
            <a:ext cx="825246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規劃中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93342" y="1728216"/>
            <a:ext cx="990981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節點端權杖改存雜湊（G2）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2203704"/>
            <a:ext cx="9509760" cy="49621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3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連線　</a:t>
            </a:r>
            <a:r>
              <a:rPr sz="130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各機代理第一次啟動自產憑證；部署腳本經SSH取回當作信任依據存在主控台。代理送出的憑證跟當初信任的不同就拒絕連線；代理重裝後重跑部署腳本或在網頁匯入新憑證。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2809646"/>
            <a:ext cx="9509760" cy="49621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3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權杖　</a:t>
            </a:r>
            <a:r>
              <a:rPr sz="130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每台一把隨機Bearer權杖，只走Authorization標頭；網址帶權杖一律401。主控台端以AES-256-GCM加密存在fleet.json，啟動時自動把既有明文遷移成密文。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3415588"/>
            <a:ext cx="9509760" cy="49621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3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代理的入口　</a:t>
            </a:r>
            <a:r>
              <a:rPr sz="130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代理只接受登錄檔內的欄位與掃描清單內的模型；沒有改登錄檔的API，避免拿到權杖的人把記錄檔指到私鑰再讀出。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4021531"/>
            <a:ext cx="9509760" cy="49621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3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缺口　</a:t>
            </a:r>
            <a:r>
              <a:rPr sz="130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節點端的權杖檔目前以0600明文存放，能讀這個檔的人已擁有執行模型服務的帳號；計畫改為節點只存雜湊。</a:t>
            </a:r>
          </a:p>
        </p:txBody>
      </p:sp>
      <p:sp>
        <p:nvSpPr>
          <p:cNvPr id="13" name="goldline"/>
          <p:cNvSpPr/>
          <p:nvPr/>
        </p:nvSpPr>
        <p:spPr>
          <a:xfrm>
            <a:off x="621792" y="5614416"/>
            <a:ext cx="9509760" cy="493776"/>
          </a:xfrm>
          <a:prstGeom prst="roundRect">
            <a:avLst>
              <a:gd name="adj" fmla="val 14000"/>
            </a:avLst>
          </a:prstGeom>
          <a:solidFill>
            <a:srgbClr val="FB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5614416"/>
            <a:ext cx="909828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9C1218"/>
                </a:solidFill>
                <a:latin typeface="Microsoft JhengHei"/>
                <a:ea typeface="Microsoft JhengHei"/>
                <a:cs typeface="Microsoft JhengHei"/>
              </a:rPr>
              <a:t>信任來自SSH取回的憑證，不是第一次連上就相信。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4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8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2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6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0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40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xh-title"/>
          <p:cNvSpPr txBox="1"/>
          <p:nvPr/>
        </p:nvSpPr>
        <p:spPr>
          <a:xfrm>
            <a:off x="2286000" y="384048"/>
            <a:ext cx="9326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HTTPS與憑證：熱換、檢查、還原</a:t>
            </a:r>
          </a:p>
        </p:txBody>
      </p:sp>
      <p:sp>
        <p:nvSpPr>
          <p:cNvPr id="3" name="status"/>
          <p:cNvSpPr/>
          <p:nvPr/>
        </p:nvSpPr>
        <p:spPr>
          <a:xfrm>
            <a:off x="621792" y="1325880"/>
            <a:ext cx="1511046" cy="292608"/>
          </a:xfrm>
          <a:prstGeom prst="roundRect">
            <a:avLst>
              <a:gd name="adj" fmla="val 50000"/>
            </a:avLst>
          </a:prstGeom>
          <a:solidFill>
            <a:srgbClr val="3E8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325880"/>
            <a:ext cx="1511046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已實作且有測試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79142" y="1344168"/>
            <a:ext cx="922401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test_tls.py 36項、test_e2e_tls.py 21項；HTTPS交付檢查缺0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783080"/>
            <a:ext cx="5760720" cy="6880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25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熱換　</a:t>
            </a: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不在監聽socket上先包TLS，改在處理執行緒裡才握手，每條連線當下讀目前的憑證物件；換憑證就是換掉那個物件，不重開服務。同時先看第一個位元組，不是TLS就308轉https。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2562606"/>
            <a:ext cx="5760720" cy="4709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25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套用與還原　</a:t>
            </a: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套用後實際連自己一次核對送出的憑證指紋，不符就換回；保留最近10張可一鍵還原。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3124961"/>
            <a:ext cx="5760720" cy="4709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25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CSR　</a:t>
            </a: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私鑰在伺服器上產生，以AES-256-GCM加密保存；廠商只寄回憑證時自動對上那把私鑰。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3687318"/>
            <a:ext cx="5760720" cy="4709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25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HSTS　</a:t>
            </a: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只有正式憑證套用後才能開；剩30、14、7、1天各提醒一次。</a:t>
            </a:r>
          </a:p>
        </p:txBody>
      </p:sp>
      <p:sp>
        <p:nvSpPr>
          <p:cNvPr id="10" name="panel"/>
          <p:cNvSpPr/>
          <p:nvPr/>
        </p:nvSpPr>
        <p:spPr>
          <a:xfrm>
            <a:off x="6629400" y="1783080"/>
            <a:ext cx="3502152" cy="3566160"/>
          </a:xfrm>
          <a:prstGeom prst="roundRect">
            <a:avLst>
              <a:gd name="adj" fmla="val 6000"/>
            </a:avLst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12280" y="1929384"/>
            <a:ext cx="313639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9C1218"/>
                </a:solidFill>
                <a:latin typeface="Microsoft JhengHei"/>
                <a:ea typeface="Microsoft JhengHei"/>
                <a:cs typeface="Microsoft JhengHei"/>
              </a:rPr>
              <a:t>接受的格式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2280" y="2258568"/>
            <a:ext cx="3136392" cy="445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PFX／P12（含Windows匯出的RC2-40與3DES舊式加密）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2280" y="2758440"/>
            <a:ext cx="3136392" cy="445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PEM、CER（DER也行）、CRT，私鑰與中繼憑證順序不拘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2280" y="3258312"/>
            <a:ext cx="3136392" cy="445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P7B（搭配當初的私鑰或系統內產生的CSR）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2280" y="3758184"/>
            <a:ext cx="3136392" cy="445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匯入前檢查：成對、效期、主機名稱涵蓋、憑證鏈、金鑰強度、自簽</a:t>
            </a:r>
          </a:p>
        </p:txBody>
      </p:sp>
      <p:sp>
        <p:nvSpPr>
          <p:cNvPr id="16" name="goldline"/>
          <p:cNvSpPr/>
          <p:nvPr/>
        </p:nvSpPr>
        <p:spPr>
          <a:xfrm>
            <a:off x="621792" y="5614416"/>
            <a:ext cx="9509760" cy="493776"/>
          </a:xfrm>
          <a:prstGeom prst="roundRect">
            <a:avLst>
              <a:gd name="adj" fmla="val 14000"/>
            </a:avLst>
          </a:prstGeom>
          <a:solidFill>
            <a:srgbClr val="FB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5614416"/>
            <a:ext cx="909828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9C1218"/>
                </a:solidFill>
                <a:latin typeface="Microsoft JhengHei"/>
                <a:ea typeface="Microsoft JhengHei"/>
                <a:cs typeface="Microsoft JhengHei"/>
              </a:rPr>
              <a:t>換憑證是管理者在網頁上做的事，不必叫工程師進主機。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4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8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6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240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xh-title"/>
          <p:cNvSpPr txBox="1"/>
          <p:nvPr/>
        </p:nvSpPr>
        <p:spPr>
          <a:xfrm>
            <a:off x="2286000" y="384048"/>
            <a:ext cx="9326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操作紀錄、取樣與資料保存</a:t>
            </a:r>
          </a:p>
        </p:txBody>
      </p:sp>
      <p:sp>
        <p:nvSpPr>
          <p:cNvPr id="3" name="status"/>
          <p:cNvSpPr/>
          <p:nvPr/>
        </p:nvSpPr>
        <p:spPr>
          <a:xfrm>
            <a:off x="621792" y="1325880"/>
            <a:ext cx="1511046" cy="292608"/>
          </a:xfrm>
          <a:prstGeom prst="roundRect">
            <a:avLst>
              <a:gd name="adj" fmla="val 50000"/>
            </a:avLst>
          </a:prstGeom>
          <a:solidFill>
            <a:srgbClr val="3E8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325880"/>
            <a:ext cx="1511046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已實作且有測試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79142" y="1344168"/>
            <a:ext cx="922401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稽核不含密碼、金鑰與錯誤的金鑰（安全測試與整合測試皆驗證）</a:t>
            </a:r>
          </a:p>
        </p:txBody>
      </p:sp>
      <p:sp>
        <p:nvSpPr>
          <p:cNvPr id="6" name="thead"/>
          <p:cNvSpPr/>
          <p:nvPr/>
        </p:nvSpPr>
        <p:spPr>
          <a:xfrm>
            <a:off x="621792" y="1783080"/>
            <a:ext cx="9509760" cy="310896"/>
          </a:xfrm>
          <a:prstGeom prst="roundRect">
            <a:avLst>
              <a:gd name="adj" fmla="val 12000"/>
            </a:avLst>
          </a:prstGeom>
          <a:solidFill>
            <a:srgbClr val="BF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700784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資料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14600" y="1783080"/>
            <a:ext cx="4626864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內容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69480" y="1783080"/>
            <a:ext cx="969264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保存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60" y="1783080"/>
            <a:ext cx="1700784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保護</a:t>
            </a:r>
          </a:p>
        </p:txBody>
      </p:sp>
      <p:sp>
        <p:nvSpPr>
          <p:cNvPr id="11" name="zebra"/>
          <p:cNvSpPr/>
          <p:nvPr/>
        </p:nvSpPr>
        <p:spPr>
          <a:xfrm>
            <a:off x="621792" y="2121408"/>
            <a:ext cx="9509760" cy="539496"/>
          </a:xfrm>
          <a:prstGeom prst="rect">
            <a:avLst/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121408"/>
            <a:ext cx="1700784" cy="539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稽核紀錄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4600" y="2121408"/>
            <a:ext cx="4626864" cy="539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時間、帳號、來源IP、動作、目標、結果，與遮罩後的細節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69480" y="2121408"/>
            <a:ext cx="969264" cy="539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400天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121408"/>
            <a:ext cx="1700784" cy="539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寫入前經redact()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660903"/>
            <a:ext cx="1700784" cy="539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機器取樣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14600" y="2660903"/>
            <a:ext cx="4626864" cy="539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每5分鐘：各池用量、GPU功耗與使用率、欄位狀態、請求計數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480" y="2660903"/>
            <a:ext cx="969264" cy="539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400天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660903"/>
            <a:ext cx="1700784" cy="539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不含個資</a:t>
            </a:r>
          </a:p>
        </p:txBody>
      </p:sp>
      <p:sp>
        <p:nvSpPr>
          <p:cNvPr id="20" name="zebra"/>
          <p:cNvSpPr/>
          <p:nvPr/>
        </p:nvSpPr>
        <p:spPr>
          <a:xfrm>
            <a:off x="621792" y="3200399"/>
            <a:ext cx="9509760" cy="333756"/>
          </a:xfrm>
          <a:prstGeom prst="rect">
            <a:avLst/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3200399"/>
            <a:ext cx="1700784" cy="3337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登入票證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14600" y="3200399"/>
            <a:ext cx="4626864" cy="3337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票證的SHA-256、帳號、來源、到期時間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69480" y="3200399"/>
            <a:ext cx="969264" cy="3337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12小時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3200399"/>
            <a:ext cx="1700784" cy="3337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只存雜湊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3534155"/>
            <a:ext cx="1700784" cy="539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設定與機密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14600" y="3534155"/>
            <a:ext cx="4626864" cy="539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fleet.json、TLS私鑰、CSR私鑰、主金鑰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69480" y="3534155"/>
            <a:ext cx="969264" cy="539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持續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3534155"/>
            <a:ext cx="1700784" cy="539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0700／0600，機密加密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" y="4238243"/>
            <a:ext cx="9509760" cy="49621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3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遮罩規則　</a:t>
            </a:r>
            <a:r>
              <a:rPr sz="130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鍵名像機密的一律換成「已遮罩」（password、token、key、pem、cookie、authorization…），含PRIVATE KEY或enc:v1:的字串整段遮掉，長字串截斷；所有寫稽核的地方都經過同一支函式。</a:t>
            </a:r>
          </a:p>
        </p:txBody>
      </p:sp>
      <p:sp>
        <p:nvSpPr>
          <p:cNvPr id="30" name="goldline"/>
          <p:cNvSpPr/>
          <p:nvPr/>
        </p:nvSpPr>
        <p:spPr>
          <a:xfrm>
            <a:off x="621792" y="5614416"/>
            <a:ext cx="9509760" cy="493776"/>
          </a:xfrm>
          <a:prstGeom prst="roundRect">
            <a:avLst>
              <a:gd name="adj" fmla="val 14000"/>
            </a:avLst>
          </a:prstGeom>
          <a:solidFill>
            <a:srgbClr val="FB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8" y="5614416"/>
            <a:ext cx="909828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9C1218"/>
                </a:solidFill>
                <a:latin typeface="Microsoft JhengHei"/>
                <a:ea typeface="Microsoft JhengHei"/>
                <a:cs typeface="Microsoft JhengHei"/>
              </a:rPr>
              <a:t>稽核最常見的洞是把整包請求寫進去，我們只寫遮罩後的必要欄位。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8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2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600"/>
                            </p:stCondLst>
                            <p:childTnLst>
                              <p:par>
                                <p:cTn id="5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2000"/>
                            </p:stCondLst>
                            <p:childTnLst>
                              <p:par>
                                <p:cTn id="7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2400"/>
                            </p:stCondLst>
                            <p:childTnLst>
                              <p:par>
                                <p:cTn id="8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2800"/>
                            </p:stCondLst>
                            <p:childTnLst>
                              <p:par>
                                <p:cTn id="9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xh-title"/>
          <p:cNvSpPr txBox="1"/>
          <p:nvPr/>
        </p:nvSpPr>
        <p:spPr>
          <a:xfrm>
            <a:off x="2286000" y="384048"/>
            <a:ext cx="9326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服務使用報告：數字由程式算，估算值帶著假設</a:t>
            </a:r>
          </a:p>
        </p:txBody>
      </p:sp>
      <p:sp>
        <p:nvSpPr>
          <p:cNvPr id="3" name="status"/>
          <p:cNvSpPr/>
          <p:nvPr/>
        </p:nvSpPr>
        <p:spPr>
          <a:xfrm>
            <a:off x="621792" y="1325880"/>
            <a:ext cx="1511046" cy="292608"/>
          </a:xfrm>
          <a:prstGeom prst="roundRect">
            <a:avLst>
              <a:gd name="adj" fmla="val 50000"/>
            </a:avLst>
          </a:prstGeom>
          <a:solidFill>
            <a:srgbClr val="3E8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325880"/>
            <a:ext cx="1511046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已實作且有測試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79142" y="1344168"/>
            <a:ext cx="922401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test_usage_report.py 26項；2026年10月22日產出第一份</a:t>
            </a:r>
          </a:p>
        </p:txBody>
      </p:sp>
      <p:sp>
        <p:nvSpPr>
          <p:cNvPr id="6" name="thead"/>
          <p:cNvSpPr/>
          <p:nvPr/>
        </p:nvSpPr>
        <p:spPr>
          <a:xfrm>
            <a:off x="621792" y="1783080"/>
            <a:ext cx="9509760" cy="310896"/>
          </a:xfrm>
          <a:prstGeom prst="roundRect">
            <a:avLst>
              <a:gd name="adj" fmla="val 12000"/>
            </a:avLst>
          </a:prstGeom>
          <a:solidFill>
            <a:srgbClr val="BF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2066543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區塊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1783080"/>
            <a:ext cx="3803904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回答的問題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12280" y="1783080"/>
            <a:ext cx="3255264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怎麼算</a:t>
            </a:r>
          </a:p>
        </p:txBody>
      </p:sp>
      <p:sp>
        <p:nvSpPr>
          <p:cNvPr id="10" name="zebra"/>
          <p:cNvSpPr/>
          <p:nvPr/>
        </p:nvSpPr>
        <p:spPr>
          <a:xfrm>
            <a:off x="621792" y="2121408"/>
            <a:ext cx="9509760" cy="333756"/>
          </a:xfrm>
          <a:prstGeom prst="rect">
            <a:avLst/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121408"/>
            <a:ext cx="2066543" cy="3337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誰在用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2121408"/>
            <a:ext cx="3803904" cy="3337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多少次登入、多少次操作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2280" y="2121408"/>
            <a:ext cx="3255264" cy="3337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稽核紀錄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455163"/>
            <a:ext cx="2066543" cy="3337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用了多少電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360" y="2455163"/>
            <a:ext cx="3803904" cy="3337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GPU晶片本期耗電度數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2280" y="2455163"/>
            <a:ext cx="3255264" cy="3337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取樣功耗×間隔；超過15分鐘的空窗不計</a:t>
            </a:r>
          </a:p>
        </p:txBody>
      </p:sp>
      <p:sp>
        <p:nvSpPr>
          <p:cNvPr id="17" name="zebra"/>
          <p:cNvSpPr/>
          <p:nvPr/>
        </p:nvSpPr>
        <p:spPr>
          <a:xfrm>
            <a:off x="621792" y="2788920"/>
            <a:ext cx="9509760" cy="333756"/>
          </a:xfrm>
          <a:prstGeom prst="rect">
            <a:avLst/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2788920"/>
            <a:ext cx="2066543" cy="3337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地端處理了多少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80360" y="2788920"/>
            <a:ext cx="3803904" cy="3337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請求數、匯入與生成token、快取命中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80" y="2788920"/>
            <a:ext cx="3255264" cy="3337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代理累計計數器取差值；變小視為重啟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3122676"/>
            <a:ext cx="2066543" cy="3337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設備有沒有用到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80360" y="3122676"/>
            <a:ext cx="3803904" cy="3337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在線比例、池平均與峰值、低於底線次數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80" y="3122676"/>
            <a:ext cx="3255264" cy="3337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每5分鐘取樣</a:t>
            </a:r>
          </a:p>
        </p:txBody>
      </p:sp>
      <p:sp>
        <p:nvSpPr>
          <p:cNvPr id="24" name="zebra"/>
          <p:cNvSpPr/>
          <p:nvPr/>
        </p:nvSpPr>
        <p:spPr>
          <a:xfrm>
            <a:off x="621792" y="3456432"/>
            <a:ext cx="9509760" cy="333756"/>
          </a:xfrm>
          <a:prstGeom prst="rect">
            <a:avLst/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3456432"/>
            <a:ext cx="2066543" cy="3337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連線與操作安不安全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80360" y="3456432"/>
            <a:ext cx="3803904" cy="3337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憑證狀態、代理信任、准入擋下與強制略過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2280" y="3456432"/>
            <a:ext cx="3255264" cy="3337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憑證管理與稽核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3790188"/>
            <a:ext cx="2066543" cy="3337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系統健不健康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80360" y="3790188"/>
            <a:ext cx="3803904" cy="3337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待處理事項清單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12280" y="3790188"/>
            <a:ext cx="3255264" cy="3337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以上全部</a:t>
            </a:r>
          </a:p>
        </p:txBody>
      </p:sp>
      <p:sp>
        <p:nvSpPr>
          <p:cNvPr id="31" name="goldline"/>
          <p:cNvSpPr/>
          <p:nvPr/>
        </p:nvSpPr>
        <p:spPr>
          <a:xfrm>
            <a:off x="621792" y="5614416"/>
            <a:ext cx="9509760" cy="493776"/>
          </a:xfrm>
          <a:prstGeom prst="roundRect">
            <a:avLst>
              <a:gd name="adj" fmla="val 14000"/>
            </a:avLst>
          </a:prstGeom>
          <a:solidFill>
            <a:srgbClr val="FB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" y="5614416"/>
            <a:ext cx="909828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9C1218"/>
                </a:solidFill>
                <a:latin typeface="Microsoft JhengHei"/>
                <a:ea typeface="Microsoft JhengHei"/>
                <a:cs typeface="Microsoft JhengHei"/>
              </a:rPr>
              <a:t>電價與雲端單價沒設，就只列度數與token量，不自己補數字換算金額。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4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8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20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6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200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2400"/>
                            </p:stCondLst>
                            <p:childTnLst>
                              <p:par>
                                <p:cTn id="7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280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320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xh-title"/>
          <p:cNvSpPr txBox="1"/>
          <p:nvPr/>
        </p:nvSpPr>
        <p:spPr>
          <a:xfrm>
            <a:off x="2286000" y="384048"/>
            <a:ext cx="9326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品質與資安證據</a:t>
            </a:r>
          </a:p>
        </p:txBody>
      </p:sp>
      <p:sp>
        <p:nvSpPr>
          <p:cNvPr id="3" name="status"/>
          <p:cNvSpPr/>
          <p:nvPr/>
        </p:nvSpPr>
        <p:spPr>
          <a:xfrm>
            <a:off x="621792" y="1325880"/>
            <a:ext cx="1511046" cy="292608"/>
          </a:xfrm>
          <a:prstGeom prst="roundRect">
            <a:avLst>
              <a:gd name="adj" fmla="val 50000"/>
            </a:avLst>
          </a:prstGeom>
          <a:solidFill>
            <a:srgbClr val="3E8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325880"/>
            <a:ext cx="1511046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已實作且有測試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79142" y="1344168"/>
            <a:ext cx="922401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GitHub Actions七個作業全綠才能合併；CodeQL高風險有規則擋合併</a:t>
            </a:r>
          </a:p>
        </p:txBody>
      </p:sp>
      <p:sp>
        <p:nvSpPr>
          <p:cNvPr id="6" name="thead"/>
          <p:cNvSpPr/>
          <p:nvPr/>
        </p:nvSpPr>
        <p:spPr>
          <a:xfrm>
            <a:off x="621792" y="1783080"/>
            <a:ext cx="9509759" cy="310896"/>
          </a:xfrm>
          <a:prstGeom prst="roundRect">
            <a:avLst>
              <a:gd name="adj" fmla="val 12000"/>
            </a:avLst>
          </a:prstGeom>
          <a:solidFill>
            <a:srgbClr val="BF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4078224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測試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92040" y="1783080"/>
            <a:ext cx="969264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通過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89320" y="1783080"/>
            <a:ext cx="4078224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涵蓋</a:t>
            </a:r>
          </a:p>
        </p:txBody>
      </p:sp>
      <p:sp>
        <p:nvSpPr>
          <p:cNvPr id="10" name="zebra"/>
          <p:cNvSpPr/>
          <p:nvPr/>
        </p:nvSpPr>
        <p:spPr>
          <a:xfrm>
            <a:off x="621792" y="2121408"/>
            <a:ext cx="9509759" cy="333756"/>
          </a:xfrm>
          <a:prstGeom prst="rect">
            <a:avLst/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121408"/>
            <a:ext cx="4078224" cy="3337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agent/test_admit.py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2121408"/>
            <a:ext cx="969264" cy="3337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2121408"/>
            <a:ext cx="4078224" cy="3337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准入公式、KV、底線邊界、模型名稱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455163"/>
            <a:ext cx="4078224" cy="3337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console/test_tls.py＋test_e2e_tls.py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40" y="2455163"/>
            <a:ext cx="969264" cy="3337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57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9320" y="2455163"/>
            <a:ext cx="4078224" cy="3337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憑證匯入、熱套用、還原、轉址、經網頁走完整套</a:t>
            </a:r>
          </a:p>
        </p:txBody>
      </p:sp>
      <p:sp>
        <p:nvSpPr>
          <p:cNvPr id="17" name="zebra"/>
          <p:cNvSpPr/>
          <p:nvPr/>
        </p:nvSpPr>
        <p:spPr>
          <a:xfrm>
            <a:off x="621792" y="2788920"/>
            <a:ext cx="9509759" cy="333756"/>
          </a:xfrm>
          <a:prstGeom prst="rect">
            <a:avLst/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2788920"/>
            <a:ext cx="4078224" cy="3337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console/test_usage_report.py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92040" y="2788920"/>
            <a:ext cx="969264" cy="3337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89320" y="2788920"/>
            <a:ext cx="4078224" cy="3337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報告六塊、計數器、空窗、遮罩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3122676"/>
            <a:ext cx="4078224" cy="539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test/security/test_security.py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92040" y="3122676"/>
            <a:ext cx="969264" cy="539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52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89320" y="3122676"/>
            <a:ext cx="4078224" cy="539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從攻擊者角度：票證、IDOR等價、SSRF、穿越、節流、標頭、TLS</a:t>
            </a:r>
          </a:p>
        </p:txBody>
      </p:sp>
      <p:sp>
        <p:nvSpPr>
          <p:cNvPr id="24" name="zebra"/>
          <p:cNvSpPr/>
          <p:nvPr/>
        </p:nvSpPr>
        <p:spPr>
          <a:xfrm>
            <a:off x="621792" y="3662172"/>
            <a:ext cx="9509759" cy="333756"/>
          </a:xfrm>
          <a:prstGeom prst="rect">
            <a:avLst/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3662172"/>
            <a:ext cx="4078224" cy="3337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test/test_api_integration.py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92040" y="3662172"/>
            <a:ext cx="969264" cy="3337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23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89320" y="3662172"/>
            <a:ext cx="4078224" cy="3337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API設定、金鑰、自動還原、不跟轉址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3995928"/>
            <a:ext cx="4078224" cy="3337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test/test_llama_engine.py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92040" y="3995928"/>
            <a:ext cx="969264" cy="3337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36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89320" y="3995928"/>
            <a:ext cx="4078224" cy="3337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模型庫、檔頭KV、跨引擎切換與還原、下載、刪除</a:t>
            </a:r>
          </a:p>
        </p:txBody>
      </p:sp>
      <p:sp>
        <p:nvSpPr>
          <p:cNvPr id="31" name="zebra"/>
          <p:cNvSpPr/>
          <p:nvPr/>
        </p:nvSpPr>
        <p:spPr>
          <a:xfrm>
            <a:off x="621792" y="4329684"/>
            <a:ext cx="9509759" cy="333756"/>
          </a:xfrm>
          <a:prstGeom prst="rect">
            <a:avLst/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4329684"/>
            <a:ext cx="4078224" cy="3337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console/test_ui_guard.py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92040" y="4329684"/>
            <a:ext cx="969264" cy="3337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89320" y="4329684"/>
            <a:ext cx="4078224" cy="3337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彈窗不准點背景關閉、Enter擋輸入法</a:t>
            </a:r>
          </a:p>
        </p:txBody>
      </p:sp>
      <p:sp>
        <p:nvSpPr>
          <p:cNvPr id="35" name="goldline"/>
          <p:cNvSpPr/>
          <p:nvPr/>
        </p:nvSpPr>
        <p:spPr>
          <a:xfrm>
            <a:off x="621792" y="5614416"/>
            <a:ext cx="9509760" cy="493776"/>
          </a:xfrm>
          <a:prstGeom prst="roundRect">
            <a:avLst>
              <a:gd name="adj" fmla="val 14000"/>
            </a:avLst>
          </a:prstGeom>
          <a:solidFill>
            <a:srgbClr val="FB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1248" y="5614416"/>
            <a:ext cx="909828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9C1218"/>
                </a:solidFill>
                <a:latin typeface="Microsoft JhengHei"/>
                <a:ea typeface="Microsoft JhengHei"/>
                <a:cs typeface="Microsoft JhengHei"/>
              </a:rPr>
              <a:t>214項自動化測試加12項真機冒煙測試，掃描與SBOM弱點皆為0。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4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8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20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6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200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2400"/>
                            </p:stCondLst>
                            <p:childTnLst>
                              <p:par>
                                <p:cTn id="7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280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320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3600"/>
                            </p:stCondLst>
                            <p:childTnLst>
                              <p:par>
                                <p:cTn id="10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xh-title"/>
          <p:cNvSpPr txBox="1"/>
          <p:nvPr/>
        </p:nvSpPr>
        <p:spPr>
          <a:xfrm>
            <a:off x="2286000" y="384048"/>
            <a:ext cx="9326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技術規格總表</a:t>
            </a:r>
          </a:p>
        </p:txBody>
      </p:sp>
      <p:sp>
        <p:nvSpPr>
          <p:cNvPr id="3" name="thead"/>
          <p:cNvSpPr/>
          <p:nvPr/>
        </p:nvSpPr>
        <p:spPr>
          <a:xfrm>
            <a:off x="621792" y="1371600"/>
            <a:ext cx="9509760" cy="310896"/>
          </a:xfrm>
          <a:prstGeom prst="roundRect">
            <a:avLst>
              <a:gd name="adj" fmla="val 12000"/>
            </a:avLst>
          </a:prstGeom>
          <a:solidFill>
            <a:srgbClr val="BF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2249424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項目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63240" y="1371600"/>
            <a:ext cx="7004304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規格</a:t>
            </a:r>
          </a:p>
        </p:txBody>
      </p:sp>
      <p:sp>
        <p:nvSpPr>
          <p:cNvPr id="6" name="zebra"/>
          <p:cNvSpPr/>
          <p:nvPr/>
        </p:nvSpPr>
        <p:spPr>
          <a:xfrm>
            <a:off x="621792" y="1709928"/>
            <a:ext cx="9509760" cy="539496"/>
          </a:xfrm>
          <a:prstGeom prst="rect">
            <a:avLst/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709928"/>
            <a:ext cx="2249424" cy="539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執行環境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63240" y="1709928"/>
            <a:ext cx="7004304" cy="539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Python 3.10以上（正式環境3.12）、systemd使用者服務；主控台以venv執行，依賴釘版本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249424"/>
            <a:ext cx="2249424" cy="539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依賴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3240" y="2249424"/>
            <a:ext cx="7004304" cy="539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cryptography 50.0.2（含cffi 2.1.1、pycparser 3.11）；報表產生器另需matplotlib、python-docx</a:t>
            </a:r>
          </a:p>
        </p:txBody>
      </p:sp>
      <p:sp>
        <p:nvSpPr>
          <p:cNvPr id="11" name="zebra"/>
          <p:cNvSpPr/>
          <p:nvPr/>
        </p:nvSpPr>
        <p:spPr>
          <a:xfrm>
            <a:off x="621792" y="2788920"/>
            <a:ext cx="9509760" cy="333756"/>
          </a:xfrm>
          <a:prstGeom prst="rect">
            <a:avLst/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788920"/>
            <a:ext cx="2249424" cy="3337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3240" y="2788920"/>
            <a:ext cx="7004304" cy="3337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主控台9400（HTTPS，同埠http轉址）；節點代理9401（HTTPS）；模型依欄位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122676"/>
            <a:ext cx="2249424" cy="539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推論引擎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3240" y="3122676"/>
            <a:ext cx="7004304" cy="539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Strata 0.1.45（Qwen3.8-Flash-Next家族）；llama.cpp（自動挑本機最新、有GPU後端的建置）</a:t>
            </a:r>
          </a:p>
        </p:txBody>
      </p:sp>
      <p:sp>
        <p:nvSpPr>
          <p:cNvPr id="16" name="zebra"/>
          <p:cNvSpPr/>
          <p:nvPr/>
        </p:nvSpPr>
        <p:spPr>
          <a:xfrm>
            <a:off x="621792" y="3662172"/>
            <a:ext cx="9509760" cy="539496"/>
          </a:xfrm>
          <a:prstGeom prst="rect">
            <a:avLst/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662172"/>
            <a:ext cx="2249424" cy="539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已驗證的機器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63240" y="3662172"/>
            <a:ext cx="7004304" cy="539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AMD Ryzen AI 395（HP Z2 Mini G1a，ROCm 7.1.1）×2、Jetson AGX Thor（JetPack 7.2）×1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201668"/>
            <a:ext cx="2249424" cy="3337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瀏覽器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63240" y="4201668"/>
            <a:ext cx="7004304" cy="3337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以Chromium系瀏覽器（Chrome、Edge）實測；版面在1440、1280與375寬都量過</a:t>
            </a:r>
          </a:p>
        </p:txBody>
      </p:sp>
      <p:sp>
        <p:nvSpPr>
          <p:cNvPr id="21" name="zebra"/>
          <p:cNvSpPr/>
          <p:nvPr/>
        </p:nvSpPr>
        <p:spPr>
          <a:xfrm>
            <a:off x="621792" y="4535424"/>
            <a:ext cx="9509760" cy="333756"/>
          </a:xfrm>
          <a:prstGeom prst="rect">
            <a:avLst/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535424"/>
            <a:ext cx="2249424" cy="3337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原始碼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63240" y="4535424"/>
            <a:ext cx="7004304" cy="3337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GitHub公開倉庫guessleej/xConsole，main分支受保護</a:t>
            </a:r>
          </a:p>
        </p:txBody>
      </p:sp>
      <p:sp>
        <p:nvSpPr>
          <p:cNvPr id="24" name="goldline"/>
          <p:cNvSpPr/>
          <p:nvPr/>
        </p:nvSpPr>
        <p:spPr>
          <a:xfrm>
            <a:off x="621792" y="5614416"/>
            <a:ext cx="9509760" cy="493776"/>
          </a:xfrm>
          <a:prstGeom prst="roundRect">
            <a:avLst>
              <a:gd name="adj" fmla="val 14000"/>
            </a:avLst>
          </a:prstGeom>
          <a:solidFill>
            <a:srgbClr val="FB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" y="5614416"/>
            <a:ext cx="909828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9C1218"/>
                </a:solidFill>
                <a:latin typeface="Microsoft JhengHei"/>
                <a:ea typeface="Microsoft JhengHei"/>
                <a:cs typeface="Microsoft JhengHei"/>
              </a:rPr>
              <a:t>版本與機型都寫實際用的，沒驗過的不列。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4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8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2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6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00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240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2800"/>
                            </p:stCondLst>
                            <p:childTnLst>
                              <p:par>
                                <p:cTn id="6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3200"/>
                            </p:stCondLst>
                            <p:childTnLst>
                              <p:par>
                                <p:cTn id="7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xh-title"/>
          <p:cNvSpPr txBox="1"/>
          <p:nvPr/>
        </p:nvSpPr>
        <p:spPr>
          <a:xfrm>
            <a:off x="2286000" y="384048"/>
            <a:ext cx="9326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已知限制：照威脅模型缺口清單照實寫</a:t>
            </a:r>
          </a:p>
        </p:txBody>
      </p:sp>
      <p:sp>
        <p:nvSpPr>
          <p:cNvPr id="3" name="thead"/>
          <p:cNvSpPr/>
          <p:nvPr/>
        </p:nvSpPr>
        <p:spPr>
          <a:xfrm>
            <a:off x="621792" y="1371600"/>
            <a:ext cx="9509759" cy="310896"/>
          </a:xfrm>
          <a:prstGeom prst="roundRect">
            <a:avLst>
              <a:gd name="adj" fmla="val 12000"/>
            </a:avLst>
          </a:prstGeom>
          <a:solidFill>
            <a:srgbClr val="BF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2615184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項目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9000" y="1371600"/>
            <a:ext cx="4078224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目前狀況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35240" y="1371600"/>
            <a:ext cx="2432303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影響與因應</a:t>
            </a:r>
          </a:p>
        </p:txBody>
      </p:sp>
      <p:sp>
        <p:nvSpPr>
          <p:cNvPr id="7" name="zebra"/>
          <p:cNvSpPr/>
          <p:nvPr/>
        </p:nvSpPr>
        <p:spPr>
          <a:xfrm>
            <a:off x="621792" y="1709928"/>
            <a:ext cx="9509759" cy="539496"/>
          </a:xfrm>
          <a:prstGeom prst="rect">
            <a:avLst/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709928"/>
            <a:ext cx="2615184" cy="539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模型API走http（G1）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0" y="1709928"/>
            <a:ext cx="4078224" cy="539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推論引擎本身不提供TLS，金鑰與提示在內網明文傳輸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1709928"/>
            <a:ext cx="2432303" cy="539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畫面明示；計畫由代理加一層HTTPS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249424"/>
            <a:ext cx="2615184" cy="3337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節點端權杖明文（G2）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2249424"/>
            <a:ext cx="4078224" cy="3337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~/.xconsole/token以0600存放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5240" y="2249424"/>
            <a:ext cx="2432303" cy="3337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計畫改為只存雜湊</a:t>
            </a:r>
          </a:p>
        </p:txBody>
      </p:sp>
      <p:sp>
        <p:nvSpPr>
          <p:cNvPr id="14" name="zebra"/>
          <p:cNvSpPr/>
          <p:nvPr/>
        </p:nvSpPr>
        <p:spPr>
          <a:xfrm>
            <a:off x="621792" y="2583180"/>
            <a:ext cx="9509759" cy="333756"/>
          </a:xfrm>
          <a:prstGeom prst="rect">
            <a:avLst/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583180"/>
            <a:ext cx="2615184" cy="3337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管理者無兩步驟驗證（G3）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2583180"/>
            <a:ext cx="4078224" cy="3337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單一管理者帳號，以節流與換密碼作廢補強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35240" y="2583180"/>
            <a:ext cx="2432303" cy="3337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政府案可依要求補上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2916936"/>
            <a:ext cx="2615184" cy="3337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第三方滲透測試（G4）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9000" y="2916936"/>
            <a:ext cx="4078224" cy="3337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目前是開發團隊自測加自動化掃描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35240" y="2916936"/>
            <a:ext cx="2432303" cy="3337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依合約安排</a:t>
            </a:r>
          </a:p>
        </p:txBody>
      </p:sp>
      <p:sp>
        <p:nvSpPr>
          <p:cNvPr id="21" name="zebra"/>
          <p:cNvSpPr/>
          <p:nvPr/>
        </p:nvSpPr>
        <p:spPr>
          <a:xfrm>
            <a:off x="621792" y="3250692"/>
            <a:ext cx="9509759" cy="333756"/>
          </a:xfrm>
          <a:prstGeom prst="rect">
            <a:avLst/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3250692"/>
            <a:ext cx="2615184" cy="3337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只有一種角色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29000" y="3250692"/>
            <a:ext cx="4078224" cy="3337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沒有唯讀或分權帳號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35240" y="3250692"/>
            <a:ext cx="2432303" cy="3337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主控台只給管理者用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3584448"/>
            <a:ext cx="2615184" cy="3337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單一GPU的顯存歸屬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29000" y="3584448"/>
            <a:ext cx="4078224" cy="3337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無法逐程序區分，依各欄位預估比例分攤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35240" y="3584448"/>
            <a:ext cx="2432303" cy="3337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多模型並存時為估計值</a:t>
            </a:r>
          </a:p>
        </p:txBody>
      </p:sp>
      <p:sp>
        <p:nvSpPr>
          <p:cNvPr id="28" name="zebra"/>
          <p:cNvSpPr/>
          <p:nvPr/>
        </p:nvSpPr>
        <p:spPr>
          <a:xfrm>
            <a:off x="621792" y="3918204"/>
            <a:ext cx="9509759" cy="333756"/>
          </a:xfrm>
          <a:prstGeom prst="rect">
            <a:avLst/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3918204"/>
            <a:ext cx="2615184" cy="3337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工具呼叫看模型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29000" y="3918204"/>
            <a:ext cx="4078224" cy="3337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llama.cpp的工具呼叫取決於模型的對話範本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35240" y="3918204"/>
            <a:ext cx="2432303" cy="3337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用「實測一次」確認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4251960"/>
            <a:ext cx="2615184" cy="3337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DGX Spark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29000" y="4251960"/>
            <a:ext cx="4078224" cy="3337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公式已自我檢查，未接實機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35240" y="4251960"/>
            <a:ext cx="2432303" cy="3337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待實機驗證</a:t>
            </a:r>
          </a:p>
        </p:txBody>
      </p:sp>
      <p:sp>
        <p:nvSpPr>
          <p:cNvPr id="35" name="goldline"/>
          <p:cNvSpPr/>
          <p:nvPr/>
        </p:nvSpPr>
        <p:spPr>
          <a:xfrm>
            <a:off x="621792" y="5614416"/>
            <a:ext cx="9509760" cy="493776"/>
          </a:xfrm>
          <a:prstGeom prst="roundRect">
            <a:avLst>
              <a:gd name="adj" fmla="val 14000"/>
            </a:avLst>
          </a:prstGeom>
          <a:solidFill>
            <a:srgbClr val="FB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1248" y="5614416"/>
            <a:ext cx="909828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9C1218"/>
                </a:solidFill>
                <a:latin typeface="Microsoft JhengHei"/>
                <a:ea typeface="Microsoft JhengHei"/>
                <a:cs typeface="Microsoft JhengHei"/>
              </a:rPr>
              <a:t>技術長最需要的是誠實的限制清單。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8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20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60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200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240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280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3200"/>
                            </p:stCondLst>
                            <p:childTnLst>
                              <p:par>
                                <p:cTn id="9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3600"/>
                            </p:stCondLst>
                            <p:childTnLst>
                              <p:par>
                                <p:cTn id="10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xh-title"/>
          <p:cNvSpPr txBox="1"/>
          <p:nvPr/>
        </p:nvSpPr>
        <p:spPr>
          <a:xfrm>
            <a:off x="2286000" y="384048"/>
            <a:ext cx="9326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路線圖：已排定的補強</a:t>
            </a:r>
          </a:p>
        </p:txBody>
      </p:sp>
      <p:sp>
        <p:nvSpPr>
          <p:cNvPr id="3" name="xh-title"/>
          <p:cNvSpPr txBox="1"/>
          <p:nvPr/>
        </p:nvSpPr>
        <p:spPr>
          <a:xfrm>
            <a:off x="2286000" y="932688"/>
            <a:ext cx="93268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以下皆為規劃中，尚未實作</a:t>
            </a:r>
          </a:p>
        </p:txBody>
      </p:sp>
      <p:sp>
        <p:nvSpPr>
          <p:cNvPr id="4" name="card"/>
          <p:cNvSpPr/>
          <p:nvPr/>
        </p:nvSpPr>
        <p:spPr>
          <a:xfrm>
            <a:off x="621792" y="1417320"/>
            <a:ext cx="9509760" cy="731520"/>
          </a:xfrm>
          <a:prstGeom prst="roundRect">
            <a:avLst>
              <a:gd name="adj" fmla="val 8000"/>
            </a:avLst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17320"/>
            <a:ext cx="17373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9C1218"/>
                </a:solidFill>
                <a:latin typeface="Microsoft JhengHei"/>
                <a:ea typeface="Microsoft JhengHei"/>
                <a:cs typeface="Microsoft JhengHei"/>
              </a:rPr>
              <a:t>2026年12月31日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97480" y="1417320"/>
            <a:ext cx="23774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模型API改走HTTPS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74920" y="1417320"/>
            <a:ext cx="48920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節點代理加TLS反向代理，沿用代理憑證與網頁換憑證流程，IDE改打https</a:t>
            </a:r>
          </a:p>
        </p:txBody>
      </p:sp>
      <p:sp>
        <p:nvSpPr>
          <p:cNvPr id="8" name="card"/>
          <p:cNvSpPr/>
          <p:nvPr/>
        </p:nvSpPr>
        <p:spPr>
          <a:xfrm>
            <a:off x="621792" y="2240280"/>
            <a:ext cx="9509760" cy="731520"/>
          </a:xfrm>
          <a:prstGeom prst="roundRect">
            <a:avLst>
              <a:gd name="adj" fmla="val 8000"/>
            </a:avLst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0280"/>
            <a:ext cx="17373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9C1218"/>
                </a:solidFill>
                <a:latin typeface="Microsoft JhengHei"/>
                <a:ea typeface="Microsoft JhengHei"/>
                <a:cs typeface="Microsoft JhengHei"/>
              </a:rPr>
              <a:t>2026年12月31日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2240280"/>
            <a:ext cx="23774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節點端權杖只存雜湊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74920" y="2240280"/>
            <a:ext cx="48920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部署腳本產生權杖後只交給主控台，節點只留雜湊比對</a:t>
            </a:r>
          </a:p>
        </p:txBody>
      </p:sp>
      <p:sp>
        <p:nvSpPr>
          <p:cNvPr id="12" name="card"/>
          <p:cNvSpPr/>
          <p:nvPr/>
        </p:nvSpPr>
        <p:spPr>
          <a:xfrm>
            <a:off x="621792" y="3063240"/>
            <a:ext cx="9509760" cy="731520"/>
          </a:xfrm>
          <a:prstGeom prst="roundRect">
            <a:avLst>
              <a:gd name="adj" fmla="val 8000"/>
            </a:avLst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063240"/>
            <a:ext cx="17373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9C1218"/>
                </a:solidFill>
                <a:latin typeface="Microsoft JhengHei"/>
                <a:ea typeface="Microsoft JhengHei"/>
                <a:cs typeface="Microsoft JhengHei"/>
              </a:rPr>
              <a:t>2026年12月31日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3063240"/>
            <a:ext cx="23774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設定與資料加密備份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74920" y="3063240"/>
            <a:ext cx="48920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~/.xconsole以公鑰加密納入機群備份</a:t>
            </a:r>
          </a:p>
        </p:txBody>
      </p:sp>
      <p:sp>
        <p:nvSpPr>
          <p:cNvPr id="16" name="card"/>
          <p:cNvSpPr/>
          <p:nvPr/>
        </p:nvSpPr>
        <p:spPr>
          <a:xfrm>
            <a:off x="621792" y="3886200"/>
            <a:ext cx="9509760" cy="731520"/>
          </a:xfrm>
          <a:prstGeom prst="roundRect">
            <a:avLst>
              <a:gd name="adj" fmla="val 8000"/>
            </a:avLst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886200"/>
            <a:ext cx="17373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9C1218"/>
                </a:solidFill>
                <a:latin typeface="Microsoft JhengHei"/>
                <a:ea typeface="Microsoft JhengHei"/>
                <a:cs typeface="Microsoft JhengHei"/>
              </a:rPr>
              <a:t>2027年3月31日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80" y="3886200"/>
            <a:ext cx="23774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管理者兩步驟驗證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74920" y="3886200"/>
            <a:ext cx="48920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TOTP；交付政府案前完成或以客戶網段限制替代</a:t>
            </a:r>
          </a:p>
        </p:txBody>
      </p:sp>
      <p:sp>
        <p:nvSpPr>
          <p:cNvPr id="20" name="card"/>
          <p:cNvSpPr/>
          <p:nvPr/>
        </p:nvSpPr>
        <p:spPr>
          <a:xfrm>
            <a:off x="621792" y="4709160"/>
            <a:ext cx="9509760" cy="731520"/>
          </a:xfrm>
          <a:prstGeom prst="roundRect">
            <a:avLst>
              <a:gd name="adj" fmla="val 8000"/>
            </a:avLst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709160"/>
            <a:ext cx="17373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9C1218"/>
                </a:solidFill>
                <a:latin typeface="Microsoft JhengHei"/>
                <a:ea typeface="Microsoft JhengHei"/>
                <a:cs typeface="Microsoft JhengHei"/>
              </a:rPr>
              <a:t>待排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97480" y="4709160"/>
            <a:ext cx="23774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DGX Spark實機驗證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74920" y="4709160"/>
            <a:ext cx="48920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接上實機確認單一池計算與nvidia-smi的回報</a:t>
            </a:r>
          </a:p>
        </p:txBody>
      </p:sp>
      <p:sp>
        <p:nvSpPr>
          <p:cNvPr id="24" name="goldline"/>
          <p:cNvSpPr/>
          <p:nvPr/>
        </p:nvSpPr>
        <p:spPr>
          <a:xfrm>
            <a:off x="621792" y="5614416"/>
            <a:ext cx="9509760" cy="493776"/>
          </a:xfrm>
          <a:prstGeom prst="roundRect">
            <a:avLst>
              <a:gd name="adj" fmla="val 14000"/>
            </a:avLst>
          </a:prstGeom>
          <a:solidFill>
            <a:srgbClr val="FB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" y="5614416"/>
            <a:ext cx="909828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9C1218"/>
                </a:solidFill>
                <a:latin typeface="Microsoft JhengHei"/>
                <a:ea typeface="Microsoft JhengHei"/>
                <a:cs typeface="Microsoft JhengHei"/>
              </a:rPr>
              <a:t>有日期的才叫路線圖。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7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4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210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280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3500"/>
                            </p:stCondLst>
                            <p:childTnLst>
                              <p:par>
                                <p:cTn id="6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xh-title"/>
          <p:cNvSpPr txBox="1"/>
          <p:nvPr/>
        </p:nvSpPr>
        <p:spPr>
          <a:xfrm>
            <a:off x="2286000" y="384048"/>
            <a:ext cx="9326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導入需求：貴單位要準備什麼</a:t>
            </a:r>
          </a:p>
        </p:txBody>
      </p:sp>
      <p:sp>
        <p:nvSpPr>
          <p:cNvPr id="3" name="thead"/>
          <p:cNvSpPr/>
          <p:nvPr/>
        </p:nvSpPr>
        <p:spPr>
          <a:xfrm>
            <a:off x="621792" y="1371600"/>
            <a:ext cx="9509760" cy="310896"/>
          </a:xfrm>
          <a:prstGeom prst="roundRect">
            <a:avLst>
              <a:gd name="adj" fmla="val 12000"/>
            </a:avLst>
          </a:prstGeom>
          <a:solidFill>
            <a:srgbClr val="BF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2249424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項目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63240" y="1371600"/>
            <a:ext cx="7004304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需求</a:t>
            </a:r>
          </a:p>
        </p:txBody>
      </p:sp>
      <p:sp>
        <p:nvSpPr>
          <p:cNvPr id="6" name="zebra"/>
          <p:cNvSpPr/>
          <p:nvPr/>
        </p:nvSpPr>
        <p:spPr>
          <a:xfrm>
            <a:off x="621792" y="1709928"/>
            <a:ext cx="9509760" cy="539496"/>
          </a:xfrm>
          <a:prstGeom prst="rect">
            <a:avLst/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709928"/>
            <a:ext cx="2249424" cy="539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機器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63240" y="1709928"/>
            <a:ext cx="7004304" cy="539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要納管的AI機（AMD AI 395、Jetson／MIC-743、DGX Spark或多卡伺服器），Ubuntu（已驗證24.04）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249424"/>
            <a:ext cx="2249424" cy="3337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帳號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3240" y="2249424"/>
            <a:ext cx="7004304" cy="3337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每台一個一般使用者帳號，可用systemd使用者服務；部署時需要SSH連線</a:t>
            </a:r>
          </a:p>
        </p:txBody>
      </p:sp>
      <p:sp>
        <p:nvSpPr>
          <p:cNvPr id="11" name="zebra"/>
          <p:cNvSpPr/>
          <p:nvPr/>
        </p:nvSpPr>
        <p:spPr>
          <a:xfrm>
            <a:off x="621792" y="2583180"/>
            <a:ext cx="9509760" cy="333756"/>
          </a:xfrm>
          <a:prstGeom prst="rect">
            <a:avLst/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583180"/>
            <a:ext cx="2249424" cy="3337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網路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3240" y="2583180"/>
            <a:ext cx="7004304" cy="3337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瀏覽器能連主控台9400；主控台能連各機9401；同仁的電腦能連模型的埠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916936"/>
            <a:ext cx="2249424" cy="3337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憑證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3240" y="2916936"/>
            <a:ext cx="7004304" cy="3337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正式憑證或內部CA；沒有時先用暫用自簽，之後在網頁上換</a:t>
            </a:r>
          </a:p>
        </p:txBody>
      </p:sp>
      <p:sp>
        <p:nvSpPr>
          <p:cNvPr id="16" name="zebra"/>
          <p:cNvSpPr/>
          <p:nvPr/>
        </p:nvSpPr>
        <p:spPr>
          <a:xfrm>
            <a:off x="621792" y="3250692"/>
            <a:ext cx="9509760" cy="333756"/>
          </a:xfrm>
          <a:prstGeom prst="rect">
            <a:avLst/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250692"/>
            <a:ext cx="2249424" cy="3337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模型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63240" y="3250692"/>
            <a:ext cx="7004304" cy="3337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要提供給同仁的模型清單；政府、學校、醫院案只安裝非中國來源的模型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584448"/>
            <a:ext cx="2249424" cy="3337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63240" y="3584448"/>
            <a:ext cx="7004304" cy="3337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主控台管理者一位；資安聯絡窗口一位</a:t>
            </a:r>
          </a:p>
        </p:txBody>
      </p:sp>
      <p:sp>
        <p:nvSpPr>
          <p:cNvPr id="21" name="goldline"/>
          <p:cNvSpPr/>
          <p:nvPr/>
        </p:nvSpPr>
        <p:spPr>
          <a:xfrm>
            <a:off x="621792" y="5614416"/>
            <a:ext cx="9509760" cy="493776"/>
          </a:xfrm>
          <a:prstGeom prst="roundRect">
            <a:avLst>
              <a:gd name="adj" fmla="val 14000"/>
            </a:avLst>
          </a:prstGeom>
          <a:solidFill>
            <a:srgbClr val="FB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" y="5614416"/>
            <a:ext cx="909828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9C1218"/>
                </a:solidFill>
                <a:latin typeface="Microsoft JhengHei"/>
                <a:ea typeface="Microsoft JhengHei"/>
                <a:cs typeface="Microsoft JhengHei"/>
              </a:rPr>
              <a:t>不需要另外買管理機，主控台可以裝在其中一台AI機上。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4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8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2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6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00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240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2800"/>
                            </p:stCondLst>
                            <p:childTnLst>
                              <p:par>
                                <p:cTn id="6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xh-title"/>
          <p:cNvSpPr txBox="1"/>
          <p:nvPr/>
        </p:nvSpPr>
        <p:spPr>
          <a:xfrm>
            <a:off x="2286000" y="384048"/>
            <a:ext cx="9326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導入步驟：四個指令，每一步都有驗證</a:t>
            </a:r>
          </a:p>
        </p:txBody>
      </p:sp>
      <p:sp>
        <p:nvSpPr>
          <p:cNvPr id="3" name="thead"/>
          <p:cNvSpPr/>
          <p:nvPr/>
        </p:nvSpPr>
        <p:spPr>
          <a:xfrm>
            <a:off x="621792" y="1371600"/>
            <a:ext cx="9509760" cy="310896"/>
          </a:xfrm>
          <a:prstGeom prst="roundRect">
            <a:avLst>
              <a:gd name="adj" fmla="val 12000"/>
            </a:avLst>
          </a:prstGeom>
          <a:solidFill>
            <a:srgbClr val="BF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420623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371600"/>
            <a:ext cx="2432303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做什麼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94760" y="1371600"/>
            <a:ext cx="3895344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怎麼做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18120" y="1371600"/>
            <a:ext cx="2249424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驗證</a:t>
            </a:r>
          </a:p>
        </p:txBody>
      </p:sp>
      <p:sp>
        <p:nvSpPr>
          <p:cNvPr id="8" name="zebra"/>
          <p:cNvSpPr/>
          <p:nvPr/>
        </p:nvSpPr>
        <p:spPr>
          <a:xfrm>
            <a:off x="621792" y="1709928"/>
            <a:ext cx="9509760" cy="539496"/>
          </a:xfrm>
          <a:prstGeom prst="rect">
            <a:avLst/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709928"/>
            <a:ext cx="420623" cy="539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1709928"/>
            <a:ext cx="2432303" cy="539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裝節點代理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60" y="1709928"/>
            <a:ext cx="3895344" cy="539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每台執行deploy_agent.sh（第一次加--seed寫入欄位登錄）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1709928"/>
            <a:ext cx="2249424" cy="539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代理的健康檢查以HTTPS回應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249424"/>
            <a:ext cx="420623" cy="539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249424"/>
            <a:ext cx="2432303" cy="539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裝主控台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94760" y="2249424"/>
            <a:ext cx="3895344" cy="539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deploy_console.sh：建venv、組納管清單、取回各機代理憑證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2249424"/>
            <a:ext cx="2249424" cy="539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http打主控台回308</a:t>
            </a:r>
          </a:p>
        </p:txBody>
      </p:sp>
      <p:sp>
        <p:nvSpPr>
          <p:cNvPr id="17" name="zebra"/>
          <p:cNvSpPr/>
          <p:nvPr/>
        </p:nvSpPr>
        <p:spPr>
          <a:xfrm>
            <a:off x="621792" y="2788920"/>
            <a:ext cx="9509760" cy="539496"/>
          </a:xfrm>
          <a:prstGeom prst="rect">
            <a:avLst/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2788920"/>
            <a:ext cx="420623" cy="539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2788920"/>
            <a:ext cx="2432303" cy="539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設帳密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2788920"/>
            <a:ext cx="3895344" cy="539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xconsole_server.py --set-credentials，帳密由標準輸入讀，不進指令列與環境變數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8120" y="2788920"/>
            <a:ext cx="2249424" cy="539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網頁登入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3328415"/>
            <a:ext cx="420623" cy="539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3328415"/>
            <a:ext cx="2432303" cy="539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換憑證與交付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3328415"/>
            <a:ext cx="3895344" cy="539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網頁上傳正式憑證；跑安全、HTTPS、機密與使用報告四項檢查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8120" y="3328415"/>
            <a:ext cx="2249424" cy="539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四項檢查皆通過</a:t>
            </a:r>
          </a:p>
        </p:txBody>
      </p:sp>
      <p:sp>
        <p:nvSpPr>
          <p:cNvPr id="26" name="goldline"/>
          <p:cNvSpPr/>
          <p:nvPr/>
        </p:nvSpPr>
        <p:spPr>
          <a:xfrm>
            <a:off x="621792" y="5614416"/>
            <a:ext cx="9509760" cy="493776"/>
          </a:xfrm>
          <a:prstGeom prst="roundRect">
            <a:avLst>
              <a:gd name="adj" fmla="val 14000"/>
            </a:avLst>
          </a:prstGeom>
          <a:solidFill>
            <a:srgbClr val="FB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" y="5614416"/>
            <a:ext cx="909828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9C1218"/>
                </a:solidFill>
                <a:latin typeface="Microsoft JhengHei"/>
                <a:ea typeface="Microsoft JhengHei"/>
                <a:cs typeface="Microsoft JhengHei"/>
              </a:rPr>
              <a:t>單機模式用deploy_standalone.sh一行完成。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7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4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210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2800"/>
                            </p:stCondLst>
                            <p:childTnLst>
                              <p:par>
                                <p:cTn id="6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3500"/>
                            </p:stCondLst>
                            <p:childTnLst>
                              <p:par>
                                <p:cTn id="7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ver-mask"/>
          <p:cNvSpPr/>
          <p:nvPr/>
        </p:nvSpPr>
        <p:spPr>
          <a:xfrm>
            <a:off x="4096512" y="4434840"/>
            <a:ext cx="164592" cy="1508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24528" y="4297680"/>
            <a:ext cx="7315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24528" y="4956048"/>
            <a:ext cx="749807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xConsole模型主控台　技術簡報</a:t>
            </a:r>
          </a:p>
          <a:p>
            <a:pPr algn="l">
              <a:lnSpc>
                <a:spcPct val="125000"/>
              </a:lnSpc>
            </a:pPr>
            <a:r>
              <a:rPr sz="125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云碩科技股份有限公司　xCloudinfo Corp. Limited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資安聯絡窗口　security@cloudinfo.com.tw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2</Words>
  <Application>Microsoft Macintosh PowerPoint</Application>
  <PresentationFormat>寬螢幕</PresentationFormat>
  <Paragraphs>1</Paragraphs>
  <Slides>6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1" baseType="lpstr">
      <vt:lpstr>微軟正黑體</vt:lpstr>
      <vt:lpstr>Arial</vt:lpstr>
      <vt:lpstr>Calibri</vt:lpstr>
      <vt:lpstr>Century Gothic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淑華 劉</dc:creator>
  <cp:lastModifiedBy>Jefflee | 李偉業</cp:lastModifiedBy>
  <cp:revision>7</cp:revision>
  <dcterms:created xsi:type="dcterms:W3CDTF">2022-03-24T16:16:58Z</dcterms:created>
  <dcterms:modified xsi:type="dcterms:W3CDTF">2025-08-26T10:20:54Z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86a075b-541b-4c25-a188-e153b8d1b061_Enabled">
    <vt:lpwstr>true</vt:lpwstr>
  </property>
  <property fmtid="{D5CDD505-2E9C-101B-9397-08002B2CF9AE}" pid="3" name="MSIP_Label_586a075b-541b-4c25-a188-e153b8d1b061_SetDate">
    <vt:lpwstr>2023-06-28T09:17:47Z</vt:lpwstr>
  </property>
  <property fmtid="{D5CDD505-2E9C-101B-9397-08002B2CF9AE}" pid="4" name="MSIP_Label_586a075b-541b-4c25-a188-e153b8d1b061_Method">
    <vt:lpwstr>Privileged</vt:lpwstr>
  </property>
  <property fmtid="{D5CDD505-2E9C-101B-9397-08002B2CF9AE}" pid="5" name="MSIP_Label_586a075b-541b-4c25-a188-e153b8d1b061_Name">
    <vt:lpwstr>586a075b-541b-4c25-a188-e153b8d1b061</vt:lpwstr>
  </property>
  <property fmtid="{D5CDD505-2E9C-101B-9397-08002B2CF9AE}" pid="6" name="MSIP_Label_586a075b-541b-4c25-a188-e153b8d1b061_SiteId">
    <vt:lpwstr>5b465551-393e-4821-a2b0-5547f20ab78f</vt:lpwstr>
  </property>
  <property fmtid="{D5CDD505-2E9C-101B-9397-08002B2CF9AE}" pid="7" name="MSIP_Label_586a075b-541b-4c25-a188-e153b8d1b061_ActionId">
    <vt:lpwstr>d1c01d11-af79-4ce8-977c-a7e3f37b7722</vt:lpwstr>
  </property>
  <property fmtid="{D5CDD505-2E9C-101B-9397-08002B2CF9AE}" pid="8" name="MSIP_Label_586a075b-541b-4c25-a188-e153b8d1b061_ContentBits">
    <vt:lpwstr>0</vt:lpwstr>
  </property>
</Properties>
</file>